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40821d9c1649fa" /><Relationship Type="http://schemas.openxmlformats.org/officeDocument/2006/relationships/extended-properties" Target="/docProps/app.xml" Id="Rc7187ec85f014020" /><Relationship Type="http://schemas.openxmlformats.org/officeDocument/2006/relationships/officeDocument" Target="/ppt/presentation.xml" Id="R5557625219614c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33a28462e1443d"/>
  </p:sldMasterIdLst>
  <p:notesMasterIdLst>
    <p:notesMasterId xmlns:r="http://schemas.openxmlformats.org/officeDocument/2006/relationships" r:id="Rc426f3a034d04e1e"/>
  </p:notesMasterIdLst>
  <p:sldIdLst>
    <p:sldId xmlns:r="http://schemas.openxmlformats.org/officeDocument/2006/relationships" id="256" r:id="Rcee9421398a6428c"/>
    <p:sldId xmlns:r="http://schemas.openxmlformats.org/officeDocument/2006/relationships" id="257" r:id="Ra1f2c802f9754bdc"/>
    <p:sldId xmlns:r="http://schemas.openxmlformats.org/officeDocument/2006/relationships" id="258" r:id="R4db3ca648a5a4652"/>
    <p:sldId xmlns:r="http://schemas.openxmlformats.org/officeDocument/2006/relationships" id="259" r:id="R7a466214f08d4f55"/>
    <p:sldId xmlns:r="http://schemas.openxmlformats.org/officeDocument/2006/relationships" id="260" r:id="Rf63073194d354a9a"/>
    <p:sldId xmlns:r="http://schemas.openxmlformats.org/officeDocument/2006/relationships" id="261" r:id="Rad60135f558f4c09"/>
    <p:sldId xmlns:r="http://schemas.openxmlformats.org/officeDocument/2006/relationships" id="262" r:id="R50b36831093a4774"/>
    <p:sldId xmlns:r="http://schemas.openxmlformats.org/officeDocument/2006/relationships" id="263" r:id="Rb0e109af4d6b4cb7"/>
    <p:sldId xmlns:r="http://schemas.openxmlformats.org/officeDocument/2006/relationships" id="264" r:id="Ra2a266cdd38f4390"/>
    <p:sldId xmlns:r="http://schemas.openxmlformats.org/officeDocument/2006/relationships" id="265" r:id="R3e640980cfd9426b"/>
    <p:sldId xmlns:r="http://schemas.openxmlformats.org/officeDocument/2006/relationships" id="266" r:id="Red74c50be0654b1c"/>
    <p:sldId xmlns:r="http://schemas.openxmlformats.org/officeDocument/2006/relationships" id="267" r:id="R58f9dfd0510f42f5"/>
    <p:sldId xmlns:r="http://schemas.openxmlformats.org/officeDocument/2006/relationships" id="268" r:id="R9991f424edd34fa4"/>
    <p:sldId xmlns:r="http://schemas.openxmlformats.org/officeDocument/2006/relationships" id="269" r:id="R3fd26cee21b14c82"/>
    <p:sldId xmlns:r="http://schemas.openxmlformats.org/officeDocument/2006/relationships" id="270" r:id="R31f3c552553045c7"/>
    <p:sldId xmlns:r="http://schemas.openxmlformats.org/officeDocument/2006/relationships" id="271" r:id="R9da87b51e4194e4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2ec5fa86aa4ea0" /><Relationship Type="http://schemas.openxmlformats.org/officeDocument/2006/relationships/slideMaster" Target="/ppt/slideMasters/slideMaster1.xml" Id="Rf033a28462e1443d" /><Relationship Type="http://schemas.openxmlformats.org/officeDocument/2006/relationships/notesMaster" Target="/ppt/notesMasters/notesMaster1.xml" Id="Rc426f3a034d04e1e" /><Relationship Type="http://schemas.openxmlformats.org/officeDocument/2006/relationships/presProps" Target="/ppt/presProps.xml" Id="R15ebb78a7aa54a38" /><Relationship Type="http://schemas.openxmlformats.org/officeDocument/2006/relationships/tableStyles" Target="/ppt/tableStyles.xml" Id="R42ed92d417444366" /><Relationship Type="http://schemas.openxmlformats.org/officeDocument/2006/relationships/slide" Target="/ppt/slides/slide1.xml" Id="Rcee9421398a6428c" /><Relationship Type="http://schemas.openxmlformats.org/officeDocument/2006/relationships/slide" Target="/ppt/slides/slide2.xml" Id="Ra1f2c802f9754bdc" /><Relationship Type="http://schemas.openxmlformats.org/officeDocument/2006/relationships/slide" Target="/ppt/slides/slide3.xml" Id="R4db3ca648a5a4652" /><Relationship Type="http://schemas.openxmlformats.org/officeDocument/2006/relationships/slide" Target="/ppt/slides/slide4.xml" Id="R7a466214f08d4f55" /><Relationship Type="http://schemas.openxmlformats.org/officeDocument/2006/relationships/slide" Target="/ppt/slides/slide5.xml" Id="Rf63073194d354a9a" /><Relationship Type="http://schemas.openxmlformats.org/officeDocument/2006/relationships/slide" Target="/ppt/slides/slide6.xml" Id="Rad60135f558f4c09" /><Relationship Type="http://schemas.openxmlformats.org/officeDocument/2006/relationships/slide" Target="/ppt/slides/slide7.xml" Id="R50b36831093a4774" /><Relationship Type="http://schemas.openxmlformats.org/officeDocument/2006/relationships/slide" Target="/ppt/slides/slide8.xml" Id="Rb0e109af4d6b4cb7" /><Relationship Type="http://schemas.openxmlformats.org/officeDocument/2006/relationships/slide" Target="/ppt/slides/slide9.xml" Id="Ra2a266cdd38f4390" /><Relationship Type="http://schemas.openxmlformats.org/officeDocument/2006/relationships/slide" Target="/ppt/slides/slide10.xml" Id="R3e640980cfd9426b" /><Relationship Type="http://schemas.openxmlformats.org/officeDocument/2006/relationships/slide" Target="/ppt/slides/slide11.xml" Id="Red74c50be0654b1c" /><Relationship Type="http://schemas.openxmlformats.org/officeDocument/2006/relationships/slide" Target="/ppt/slides/slide12.xml" Id="R58f9dfd0510f42f5" /><Relationship Type="http://schemas.openxmlformats.org/officeDocument/2006/relationships/slide" Target="/ppt/slides/slide13.xml" Id="R9991f424edd34fa4" /><Relationship Type="http://schemas.openxmlformats.org/officeDocument/2006/relationships/slide" Target="/ppt/slides/slide14.xml" Id="R3fd26cee21b14c82" /><Relationship Type="http://schemas.openxmlformats.org/officeDocument/2006/relationships/slide" Target="/ppt/slides/slide15.xml" Id="R31f3c552553045c7" /><Relationship Type="http://schemas.openxmlformats.org/officeDocument/2006/relationships/slide" Target="/ppt/slides/slide16.xml" Id="R9da87b51e4194e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7e27a6ec674d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fae060e7e6487c" /><Relationship Type="http://schemas.openxmlformats.org/officeDocument/2006/relationships/notesMaster" Target="/ppt/notesMasters/notesMaster1.xml" Id="Ra0933d4e270a48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1234dbbd224de5" /><Relationship Type="http://schemas.openxmlformats.org/officeDocument/2006/relationships/notesMaster" Target="/ppt/notesMasters/notesMaster1.xml" Id="Red00b0a1876444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dff4893d4547ab" /><Relationship Type="http://schemas.openxmlformats.org/officeDocument/2006/relationships/notesMaster" Target="/ppt/notesMasters/notesMaster1.xml" Id="R5aced0e5840e45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4a7cbd67f04190" /><Relationship Type="http://schemas.openxmlformats.org/officeDocument/2006/relationships/notesMaster" Target="/ppt/notesMasters/notesMaster1.xml" Id="Rb01a26617e584d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795878793e4f46" /><Relationship Type="http://schemas.openxmlformats.org/officeDocument/2006/relationships/notesMaster" Target="/ppt/notesMasters/notesMaster1.xml" Id="R6ec52645a4b44f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0101cffc854489" /><Relationship Type="http://schemas.openxmlformats.org/officeDocument/2006/relationships/notesMaster" Target="/ppt/notesMasters/notesMaster1.xml" Id="Rbb49ff700d734d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f2d013e6094552" /><Relationship Type="http://schemas.openxmlformats.org/officeDocument/2006/relationships/notesMaster" Target="/ppt/notesMasters/notesMaster1.xml" Id="R5df630631ab24c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4af39361054902" /><Relationship Type="http://schemas.openxmlformats.org/officeDocument/2006/relationships/notesMaster" Target="/ppt/notesMasters/notesMaster1.xml" Id="Rb29b1bcb5eca44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d216ba22934d0c" /><Relationship Type="http://schemas.openxmlformats.org/officeDocument/2006/relationships/notesMaster" Target="/ppt/notesMasters/notesMaster1.xml" Id="R6a9d614cd9ab45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359616d2914e5e" /><Relationship Type="http://schemas.openxmlformats.org/officeDocument/2006/relationships/notesMaster" Target="/ppt/notesMasters/notesMaster1.xml" Id="Rea4e1d7b5be842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c9ad6dd4964225" /><Relationship Type="http://schemas.openxmlformats.org/officeDocument/2006/relationships/notesMaster" Target="/ppt/notesMasters/notesMaster1.xml" Id="R785a425da3784c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3a7242303542b2" /><Relationship Type="http://schemas.openxmlformats.org/officeDocument/2006/relationships/notesMaster" Target="/ppt/notesMasters/notesMaster1.xml" Id="R242cf935ef4742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f10c349ec0471c" /><Relationship Type="http://schemas.openxmlformats.org/officeDocument/2006/relationships/notesMaster" Target="/ppt/notesMasters/notesMaster1.xml" Id="Rb54dce1472bd403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76b0a609e894731" /><Relationship Type="http://schemas.openxmlformats.org/officeDocument/2006/relationships/notesMaster" Target="/ppt/notesMasters/notesMaster1.xml" Id="Rac2d8b4356d842d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fe69d513eca4218" /><Relationship Type="http://schemas.openxmlformats.org/officeDocument/2006/relationships/notesMaster" Target="/ppt/notesMasters/notesMaster1.xml" Id="R5d923a9f74c4487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14968963bb04a25" /><Relationship Type="http://schemas.openxmlformats.org/officeDocument/2006/relationships/notesMaster" Target="/ppt/notesMasters/notesMaster1.xml" Id="R56b60fa7a28447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这份讲解稿介绍目标架构和本次初始实现。RSI 在这里指通过可证伪假设、隔离实验与独立验收，持续改进推理系统和 Agent Harness。模型权重保持固定。本次代码只实现可在 CPU 上运行的离线脚手架、持久化演示 Controller、显式反馈评估和本地 Dashboard。两条 GPU/NPU 后端都未进行环境验证。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• https://z.ai/blog/glm-built-its-inference-infrastructure</a:t>
            </a:r>
          </a:p>
          <a:p xmlns:a="http://schemas.openxmlformats.org/drawingml/2006/main">
            <a:r>
              <a:t>• https://huggingface.co/zai-org/GLM-5.3-Flash</a:t>
            </a:r>
          </a:p>
          <a:p xmlns:a="http://schemas.openxmlformats.org/drawingml/2006/main">
            <a:r>
              <a:t>本稿中的目标架构为设计建议。性能数字若出现均为演示，不代表实测。GLM-5.3-Flash 权重保持固定。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智谱文章为这套设计提供了以 AI 参与推理基础设施研发的启发。图中控制面、门禁和知识晋升是本方案的工程设计，不是对文章中系统的逐项复制。固定模型权重、预算、负载与评分器，让一次改动可以被比较。局部反馈要求便宜、及时、客观可验证，最终仍需集成与端到端验收。我们不使用 Agent 自评作为发布依据。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• https://z.ai/blog/glm-built-its-inference-infrastructure</a:t>
            </a:r>
          </a:p>
          <a:p xmlns:a="http://schemas.openxmlformats.org/drawingml/2006/main">
            <a:r>
              <a:t>• https://github.com/openJiuwen-ai/agent-infer/blob/main/docs/zh/explanation/benchmark-methodology.md</a:t>
            </a:r>
          </a:p>
          <a:p xmlns:a="http://schemas.openxmlformats.org/drawingml/2006/main">
            <a:r>
              <a:t>本稿中的目标架构为设计建议。性能数字若出现均为演示，不代表实测。GLM-5.3-Flash 权重保持固定。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左侧是在线请求路径，右侧是旁路 RSI 控制面。Controller 不位于每个在线请求的关键路径。Harness 负责任务语义和协作，AgentInfer 负责推理请求的放置、准入和缓存观测。展开 AgentInfer 的目标结构时，Agent Router 内有 Semantic Router；Router 组合 Workflow Profiler、Worker Monitor、API Server、Global Scheduler 与 Tokenizer/TokenCache。AgentCache plugin 侧覆盖工作流感知调度、KV 预测与 NPU 传输，原生 vLLM 保有 waiting/running、模型执行与物理 KV 所有权。这些目标组件不代表本次 RSI 全部实现。AgentBench replay 为受控性能比较提供负载，真实 Agent 任务另验收闭环质量。证据按 scope 进入知识库后由下一轮 Harness 检索。稳定模型服务与候选实验要有独立资源边界。两条后端本次均未环境验证。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• https://github.com/openJiuwen-ai/agent-infer/blob/main/docs/zh/explanation/architecture.md</a:t>
            </a:r>
          </a:p>
          <a:p xmlns:a="http://schemas.openxmlformats.org/drawingml/2006/main">
            <a:r>
              <a:t>• https://github.com/zai-org/ZCode</a:t>
            </a:r>
          </a:p>
          <a:p xmlns:a="http://schemas.openxmlformats.org/drawingml/2006/main">
            <a:r>
              <a:t>• https://docs.vllm.ai/en/latest/design/arch_overview.html</a:t>
            </a:r>
          </a:p>
          <a:p xmlns:a="http://schemas.openxmlformats.org/drawingml/2006/main">
            <a:r>
              <a:t>• https://github.com/openJiuwen-ai/agent-infer/blob/main/docs/zh/how-to/run-trace-replay.md</a:t>
            </a:r>
          </a:p>
          <a:p xmlns:a="http://schemas.openxmlformats.org/drawingml/2006/main">
            <a:r>
              <a:t>本稿中的目标架构为设计建议。性能数字若出现均为演示，不代表实测。GLM-5.3-Flash 权重保持固定。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taxonomy 用于给反馈和知识标注归属，并非强制源码目录或严格的层层调用关系。api_server 表示协议与输入输出边界，engine 涉及调度、KV 和引擎状态，worker 涉及设备执行与 model runner，model_scripts 表示模型实现。ops.communication 和 ops.compute 分别归属通信与计算算子。parallel 包含 TP、PP、DP、EP、CP、PD 等执行策略，它跨越 engine、worker、model 和 ops，不能画成严格调用层。本次仅提供 taxonomy 与反馈契约，没有验证两条后端。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• https://docs.vllm.ai/en/latest/design/arch_overview.html</a:t>
            </a:r>
          </a:p>
          <a:p xmlns:a="http://schemas.openxmlformats.org/drawingml/2006/main">
            <a:r>
              <a:t>• https://docs.vllm.ai/projects/ascend/en/main/developer_guide/performance_and_debug/service_profiling_guide.html</a:t>
            </a:r>
          </a:p>
          <a:p xmlns:a="http://schemas.openxmlformats.org/drawingml/2006/main">
            <a:r>
              <a:t>本稿中的目标架构为设计建议。性能数字若出现均为演示，不代表实测。GLM-5.3-Flash 权重保持固定。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四个角色是声明式配置与提示词，不需要为每个角色建立 Python 类。Planner 提出 ExperimentSpec，Profiler 形成瓶颈报告，Implementer 提供候选补丁，Reviewer 只提交审查建议。ZCode 以外部 CLI 运行自己的会话和工具循环，Python Harness 对接 start/resume/cancel 和事件流，Controller 负责跨任务编排。语义路由选择推理能力，任务 DAG 选择谁做什么，两者不能混合。当前真实 ZCode/openJiuwen 适配尚未接入。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• https://github.com/zai-org/ZCode</a:t>
            </a:r>
          </a:p>
          <a:p xmlns:a="http://schemas.openxmlformats.org/drawingml/2006/main">
            <a:r>
              <a:t>• https://github.com/zai-org/ZCode/blob/main/apps/zcode-cli/packages/cli/src/prompt-command.ts</a:t>
            </a:r>
          </a:p>
          <a:p xmlns:a="http://schemas.openxmlformats.org/drawingml/2006/main">
            <a:r>
              <a:t>本稿中的目标架构为设计建议。性能数字若出现均为演示，不代表实测。GLM-5.3-Flash 权重保持固定。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编号必须保持一致：①基线，②诊断，③假设，④实现审阅，⑤实验，⑥证据，⑦裁决，⑧激活恢复，⑨观察，⑩知识归档。PASS 只生成 accepted，人工批准后才切 active，观察成功才更新 last_good。当前离线 Controller 的 FAIL 和 INCONCLUSIVE 重试都保守返回③，重新冻结假设后再执行⑤。目标设计允许合同不变且证据不充分时增量重测直达⑤，这是后续能力。⑨异常经⑧恢复再归档。恢复失败进入 NEEDS_RECOVERY，停止新轮。模型权重保持固定。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本稿中的目标架构为设计建议。性能数字若出现均为演示，不代表实测。GLM-5.3-Flash 权重保持固定。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稠密反馈的关键是局部、低成本、及时、客观可验证。以可证伪假设发起参考实现、差分、受控干预、消融或 profile。FeedbackRecord 保存 oracle、实际结果、原始证据和 scope。Agent 根据差异修正，再通过集成与真实 Agent 任务验收。正确性、系统行为与性能三类检查的先后由假设决定。带 profiler 的运行仅用于归因，不作最终性能验收。观测或失败也可以形成知识，但必须保留适用范围与限制。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• https://z.ai/blog/glm-built-its-inference-infrastructure</a:t>
            </a:r>
          </a:p>
          <a:p xmlns:a="http://schemas.openxmlformats.org/drawingml/2006/main">
            <a:r>
              <a:t>• https://docs.vllm.ai/en/latest/contributing/profiling/</a:t>
            </a:r>
          </a:p>
          <a:p xmlns:a="http://schemas.openxmlformats.org/drawingml/2006/main">
            <a:r>
              <a:t>• https://docs.vllm.ai/projects/ascend/en/main/developer_guide/performance_and_debug/service_profiling_guide.html</a:t>
            </a:r>
          </a:p>
          <a:p xmlns:a="http://schemas.openxmlformats.org/drawingml/2006/main">
            <a:r>
              <a:t>本稿中的目标架构为设计建议。性能数字若出现均为演示，不代表实测。GLM-5.3-Flash 权重保持固定。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类反馈各自回答不同问题。正确性比较数值、输出协议或任务结果；系统行为比较资源回收、调度公平性、路由亲和、请求生命周期；性能比较可重复负载下的延迟与吞吐。某个假设可以先验证行为，再看性能，也可以先做差分正确性。不要把类别画成固定流水线。以下是建议的探针模式，不代表本次已连接硬件执行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• https://docs.vllm.ai/en/latest/design/arch_overview.html</a:t>
            </a:r>
          </a:p>
          <a:p xmlns:a="http://schemas.openxmlformats.org/drawingml/2006/main">
            <a:r>
              <a:t>• https://docs.vllm.ai/en/latest/contributing/profiling/</a:t>
            </a:r>
          </a:p>
          <a:p xmlns:a="http://schemas.openxmlformats.org/drawingml/2006/main">
            <a:r>
              <a:t>• https://docs.vllm.ai/projects/ascend/en/main/developer_guide/performance_and_debug/service_profiling_guide.html</a:t>
            </a:r>
          </a:p>
          <a:p xmlns:a="http://schemas.openxmlformats.org/drawingml/2006/main">
            <a:r>
              <a:t>本稿中的目标架构为设计建议。性能数字若出现均为演示，不代表实测。GLM-5.3-Flash 权重保持固定。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本页列出当前 FeedbackRecord 的主要实际字段，完整输入以 examples/rsi/feedback.json 和 agentinfer/rsi/feedback/models.py 为准。scope 必须包含 engine_version、model_revision 与 workload_id。diagnostic 标记采样可能扰动性能，synthetic 标记演示记录。pass/fail 需要有限测量值，unavailable 必须用 null。evidence_refs 目前是溯源指针，不构成对外部产物的真实性认证。本轮 evaluate 消费显式 JSON records 并输出报告，不会执行 GPU/NPU profiler。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本稿中的目标架构为设计建议。性能数字若出现均为演示，不代表实测。GLM-5.3-Flash 权重保持固定。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vLLM 官方文档提醒 profiler 会增加开销，PyTorch profiler 的 stack、memory 和 shapes 等信息不适合直接用于 benchmark。CUDA 可以按场景选择 PyTorch profiler 或 Nsight Systems。Ascend 文档区分 Ascend PyTorch Profiler 的算子观测与 MS Service Profiler 的框架函数观测。PD 场景还需要按实例采集。最终性能应在关闭 profiler 后按固定负载、环境与缓存起点做多次配对测量，保留原始日志。具体参数必须依据安装版本，本次未进行后端环境验证。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• https://docs.vllm.ai/en/latest/contributing/profiling/</a:t>
            </a:r>
          </a:p>
          <a:p xmlns:a="http://schemas.openxmlformats.org/drawingml/2006/main">
            <a:r>
              <a:t>• https://docs.vllm.ai/projects/ascend/en/main/developer_guide/performance_and_debug/service_profiling_guide.html</a:t>
            </a:r>
          </a:p>
          <a:p xmlns:a="http://schemas.openxmlformats.org/drawingml/2006/main">
            <a:r>
              <a:t>• https://github.com/openJiuwen-ai/agent-infer/blob/main/docs/zh/explanation/benchmark-methodology.md</a:t>
            </a:r>
          </a:p>
          <a:p xmlns:a="http://schemas.openxmlformats.org/drawingml/2006/main">
            <a:r>
              <a:t>本稿中的目标架构为设计建议。性能数字若出现均为演示，不代表实测。GLM-5.3-Flash 权重保持固定。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知识库保存结论与适用条件，证据库保存原始事实，两者通过 evidence_id 关联。system 命名空间存质量门禁、后端边界与恢复契约。组件空间覆盖 semantic-router、router、harness、agent-cache 和两条后端；后端内再使用共享 engine taxonomy。检索优先匹配模型、引擎、硬件、负载及 revision。提出、验证、否定和过期是独立状态。人工建议先进入 proposed；知识晋升要求可核查证据，不应将本轮结果倒灌为本轮先验。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本稿中的目标架构为设计建议。性能数字若出现均为演示，不代表实测。GLM-5.3-Flash 权重保持固定。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accepted 只表示独立裁决通过，active 表示正在服务的版本，last_good 表示观察通过的稳定版本。批准晋升时只切 active。观察失败恢复旧 last_good，恢复失败进入 NEEDS_RECOVERY 并停止新实验。后端证据必须覆盖声明的全部发布目标。当前演示的 CUDA 数字不能证明 Ascend 可用。CPU demo 可以模拟版本指针迁移，但不会部署模型服务。本页的数值与版本是演示，不能用作发布证据。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本稿中的目标架构为设计建议。性能数字若出现均为演示，不代表实测。GLM-5.3-Flash 权重保持固定。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 展示运行轮次、步骤、版本指针、候选变更、知识证据、稠密反馈、后端层次和人工干预。截图来自本地 HTML，其所有指标均为演示。R-024 当前停在⑦评估，active 与 last_good 初始同为 v0.8.2，候选 RC-024 尚未 accepted。真实部署适配不在本轮范围。可操作暂停恢复、重跑、追加假设、排除候选以及有门禁约束的晋升/回滚演示。后端真实实验结果必须独立接入。Python demo Controller 支持 next_round；HTML mock 的下一轮说明不代表创建了真实任务。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本稿中的目标架构为设计建议。性能数字若出现均为演示，不代表实测。GLM-5.3-Flash 权重保持固定。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这些命令是本轮实现的稳定入口。taxonomy 输出后端分类；evaluate 消费 examples/rsi/feedback.json 中的显式记录并写报告；demo 在 .rsi-demo 初始化/运行离线示例；status 查看持久化状态；serve 在本机 loopback 的8877端口提供 Dashboard。本页没有提供 vllm serve 或 profiler 启动命令，因为真实后端与适配器尚未验证。默认运行前按仓库说明安装项目依赖。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本稿中的目标架构为设计建议。性能数字若出现均为演示，不代表实测。GLM-5.3-Flash 权重保持固定。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初始实现由 Python 控制状态、持久化 demo、taxonomy、显式 FeedbackRecords 评估、scoped knowledge 和 loopback Dashboard 组成。它是能够在 CPU 环境检查合同的脚手架。本次不会运行真实 ZCode、AgentBench、GPU/NPU profiler 或模型部署。未来 integrations 应调用已有 runtime/benchmark，不应复制 AgentBench 运行器、proxy 和指标计算。两条后端是否支持模型与插件仍须独立环境验证。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本稿中的目标架构为设计建议。性能数字若出现均为演示，不代表实测。GLM-5.3-Flash 权重保持固定。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后续建议按风险和依赖推进。先接一个真实 ZCode session，验证流式、工具调用、超时和取消；再让 AgentBench 驱动固定 workload，区分 replay 性能与真实任务正确性；然后接局部探针，验证反馈记录能够回溯原始产物；最后实现设备隔离和受控发布恢复。Ascend 是独立后端验证矩阵，不能复制 CUDA 通过结论。这里是后续路线，不构成本次实现声明。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• https://github.com/zai-org/ZCode/blob/main/apps/zcode-cli/packages/cli/src/prompt-command.ts</a:t>
            </a:r>
          </a:p>
          <a:p xmlns:a="http://schemas.openxmlformats.org/drawingml/2006/main">
            <a:r>
              <a:t>• https://github.com/openJiuwen-ai/agent-infer/blob/main/docs/zh/how-to/run-trace-replay.md</a:t>
            </a:r>
          </a:p>
          <a:p xmlns:a="http://schemas.openxmlformats.org/drawingml/2006/main">
            <a:r>
              <a:t>• https://github.com/openJiuwen-ai/agent-infer/blob/main/docs/zh/explanation/benchmark-methodology.md</a:t>
            </a:r>
          </a:p>
          <a:p xmlns:a="http://schemas.openxmlformats.org/drawingml/2006/main">
            <a:r>
              <a:t>• https://docs.vllm.ai/projects/ascend/en/main/developer_guide/performance_and_debug/service_profiling_guide.html</a:t>
            </a:r>
          </a:p>
          <a:p xmlns:a="http://schemas.openxmlformats.org/drawingml/2006/main">
            <a:r>
              <a:t>本稿中的目标架构为设计建议。性能数字若出现均为演示，不代表实测。GLM-5.3-Flash 权重保持固定。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c3f9013b0d47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5f149ad7b041a6" /><Relationship Type="http://schemas.openxmlformats.org/officeDocument/2006/relationships/slideLayout" Target="/ppt/slideLayouts/slideLayout1.xml" Id="R385fd16ea72a43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5fd16ea72a43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d37e25bc64c0d" /><Relationship Type="http://schemas.openxmlformats.org/officeDocument/2006/relationships/notesSlide" Target="/ppt/notesSlides/notesSlide1.xml" Id="R7223e453be4345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60934321b4d86" /><Relationship Type="http://schemas.openxmlformats.org/officeDocument/2006/relationships/notesSlide" Target="/ppt/notesSlides/notesSlide2.xml" Id="R4566bc9362bc44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ff2da7bfd4f83" /><Relationship Type="http://schemas.openxmlformats.org/officeDocument/2006/relationships/notesSlide" Target="/ppt/notesSlides/notesSlide3.xml" Id="Rc624f39bac9f41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01c9a413a47d6" /><Relationship Type="http://schemas.openxmlformats.org/officeDocument/2006/relationships/notesSlide" Target="/ppt/notesSlides/notesSlide4.xml" Id="Rf92a30eb2cca45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e6bd1e0814305" /><Relationship Type="http://schemas.openxmlformats.org/officeDocument/2006/relationships/notesSlide" Target="/ppt/notesSlides/notesSlide5.xml" Id="R82e1228ea9bb45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08247c0674dda" /><Relationship Type="http://schemas.openxmlformats.org/officeDocument/2006/relationships/notesSlide" Target="/ppt/notesSlides/notesSlide6.xml" Id="Rfafed54b59be44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45f93ecf642fe" /><Relationship Type="http://schemas.openxmlformats.org/officeDocument/2006/relationships/notesSlide" Target="/ppt/notesSlides/notesSlide7.xml" Id="R2c4594e2c01e41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63f07fe9b4c6b" /><Relationship Type="http://schemas.openxmlformats.org/officeDocument/2006/relationships/notesSlide" Target="/ppt/notesSlides/notesSlide8.xml" Id="R9ce96e4e226c45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292b5c1d7410c" /><Relationship Type="http://schemas.openxmlformats.org/officeDocument/2006/relationships/notesSlide" Target="/ppt/notesSlides/notesSlide9.xml" Id="R4337b672fd644d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55a16020643ac" /><Relationship Type="http://schemas.openxmlformats.org/officeDocument/2006/relationships/notesSlide" Target="/ppt/notesSlides/notesSlide10.xml" Id="Rb4bba761711840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d1d4563f84de1" /><Relationship Type="http://schemas.openxmlformats.org/officeDocument/2006/relationships/notesSlide" Target="/ppt/notesSlides/notesSlide11.xml" Id="R7161390d1f3d4d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65404b6a44041" /><Relationship Type="http://schemas.openxmlformats.org/officeDocument/2006/relationships/notesSlide" Target="/ppt/notesSlides/notesSlide12.xml" Id="Rbd9cc3b61639494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d3e732fbb4f43" /><Relationship Type="http://schemas.openxmlformats.org/officeDocument/2006/relationships/image" Target="/ppt/media/image.png" Id="R9fa0c488a9e4423c" /><Relationship Type="http://schemas.openxmlformats.org/officeDocument/2006/relationships/notesSlide" Target="/ppt/notesSlides/notesSlide13.xml" Id="R2c0a0777a1f543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2c9fac847486d" /><Relationship Type="http://schemas.openxmlformats.org/officeDocument/2006/relationships/notesSlide" Target="/ppt/notesSlides/notesSlide14.xml" Id="R2ae62252a9aa442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c3cf575774308" /><Relationship Type="http://schemas.openxmlformats.org/officeDocument/2006/relationships/notesSlide" Target="/ppt/notesSlides/notesSlide15.xml" Id="R562c721782ac425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a1962bf7f46af" /><Relationship Type="http://schemas.openxmlformats.org/officeDocument/2006/relationships/notesSlide" Target="/ppt/notesSlides/notesSlide16.xml" Id="R6b53c436a63946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gentInfer RSI 系统设计">
            <a:extLst xmlns:a="http://schemas.openxmlformats.org/drawingml/2006/main">
              <a:ext uri="{FF2B5EF4-FFF2-40B4-BE49-F238E27FC236}">
                <a16:creationId xmlns:a16="http://schemas.microsoft.com/office/drawing/2014/main" id="{84E02D9C-4836-4FEE-97BA-19C8305C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AgentInfer RSI 系统设计</a:t>
            </a:r>
          </a:p>
        </p:txBody>
      </p:sp>
      <p:sp>
        <p:nvSpPr>
          <p:cNvPr id="2" name="固定模型权重下的推理基础设施与 Harness 持续改进">
            <a:extLst xmlns:a="http://schemas.openxmlformats.org/drawingml/2006/main">
              <a:ext uri="{FF2B5EF4-FFF2-40B4-BE49-F238E27FC236}">
                <a16:creationId xmlns:a16="http://schemas.microsoft.com/office/drawing/2014/main" id="{D5FC9599-322B-49CC-8F7A-34CBD418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398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固定模型权重下的推理基础设施与 Harness 持续改进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09976-0C67-4406-9893-DABEB734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4020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4" name="AgentInfer RSI  /  离线脚手架与目标架构  /  2">
            <a:extLst xmlns:a="http://schemas.openxmlformats.org/drawingml/2006/main">
              <a:ext uri="{FF2B5EF4-FFF2-40B4-BE49-F238E27FC236}">
                <a16:creationId xmlns:a16="http://schemas.microsoft.com/office/drawing/2014/main" id="{99AA5508-25FF-4B95-9ED3-5B4B9511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581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AgentInfer RSI  /  离线脚手架与目标架构  /  2026-09-21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811E8231-547B-4809-B658-7D18C2E7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295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改进对象是系统，&#10;验收依据是可追溯证据">
            <a:extLst xmlns:a="http://schemas.openxmlformats.org/drawingml/2006/main">
              <a:ext uri="{FF2B5EF4-FFF2-40B4-BE49-F238E27FC236}">
                <a16:creationId xmlns:a16="http://schemas.microsoft.com/office/drawing/2014/main" id="{DC43900D-E221-4765-964F-3EC6FDFE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1323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改进对象是系统，</a:t>
            </a:r>
          </a:p>
          <a:p xmlns:a="http://schemas.openxmlformats.org/drawingml/2006/main">
            <a:pPr algn="l">
              <a:defRPr sz="45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验收依据是可追溯证据</a:t>
            </a:r>
          </a:p>
        </p:txBody>
      </p:sp>
      <p:sp>
        <p:nvSpPr>
          <p:cNvPr id="7" name="控制面管理预算与版本。Agent 提出并实现候选。&#10;独立裁决决定是否晋">
            <a:extLst xmlns:a="http://schemas.openxmlformats.org/drawingml/2006/main">
              <a:ext uri="{FF2B5EF4-FFF2-40B4-BE49-F238E27FC236}">
                <a16:creationId xmlns:a16="http://schemas.microsoft.com/office/drawing/2014/main" id="{22069627-6E37-4DCE-A015-89D02494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1209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控制面管理预算与版本。Agent 提出并实现候选。</a:t>
            </a:r>
          </a:p>
          <a:p xmlns:a="http://schemas.openxmlformats.org/drawingml/2006/main">
            <a:pPr algn="l">
              <a:defRPr sz="23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独立裁决决定是否晋升，稳定系统始终可恢复。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E7FCE-D41F-418C-AF51-AB2A3586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43575"/>
            <a:ext cx="13144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9" name="本轮交付：offline scaffold、mock Dashboar">
            <a:extLst xmlns:a="http://schemas.openxmlformats.org/drawingml/2006/main">
              <a:ext uri="{FF2B5EF4-FFF2-40B4-BE49-F238E27FC236}">
                <a16:creationId xmlns:a16="http://schemas.microsoft.com/office/drawing/2014/main" id="{8B26E638-73F7-456F-A3CF-A2051444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本轮交付：offline scaffold、mock Dashboard、接口契约与设计说明</a:t>
            </a:r>
          </a:p>
        </p:txBody>
      </p:sp>
      <p:sp>
        <p:nvSpPr>
          <p:cNvPr id="10" name="真实 ZCode、AgentBench、profiler 与部署适配属">
            <a:extLst xmlns:a="http://schemas.openxmlformats.org/drawingml/2006/main">
              <a:ext uri="{FF2B5EF4-FFF2-40B4-BE49-F238E27FC236}">
                <a16:creationId xmlns:a16="http://schemas.microsoft.com/office/drawing/2014/main" id="{323E8E89-B935-4A6C-83DD-2ED6F4CD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81825"/>
            <a:ext cx="1343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真实 ZCode、AgentBench、profiler 与部署适配属于后续接入</a:t>
            </a:r>
          </a:p>
        </p:txBody>
      </p:sp>
    </p:spTree>
    <p:extLst>
      <p:ext uri="{BB962C8B-B14F-4D97-AF65-F5344CB8AC3E}">
        <p14:creationId xmlns:p14="http://schemas.microsoft.com/office/powerpoint/2010/main" val="4101591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设计依据与工程约束">
            <a:extLst xmlns:a="http://schemas.openxmlformats.org/drawingml/2006/main">
              <a:ext uri="{FF2B5EF4-FFF2-40B4-BE49-F238E27FC236}">
                <a16:creationId xmlns:a16="http://schemas.microsoft.com/office/drawing/2014/main" id="{8226078E-718D-4B41-9E83-812B9A34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设计依据与工程约束</a:t>
            </a:r>
          </a:p>
        </p:txBody>
      </p:sp>
      <p:sp>
        <p:nvSpPr>
          <p:cNvPr id="2" name="把模型的工程能力放进可检查的实验流程">
            <a:extLst xmlns:a="http://schemas.openxmlformats.org/drawingml/2006/main">
              <a:ext uri="{FF2B5EF4-FFF2-40B4-BE49-F238E27FC236}">
                <a16:creationId xmlns:a16="http://schemas.microsoft.com/office/drawing/2014/main" id="{73F59CA3-951B-4BEF-B0DF-CC353D6C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398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把模型的工程能力放进可检查的实验流程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3F407-CBB7-413C-A1D2-626C6435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4020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4" name="AgentInfer RSI  /  离线脚手架与目标架构  /  2">
            <a:extLst xmlns:a="http://schemas.openxmlformats.org/drawingml/2006/main">
              <a:ext uri="{FF2B5EF4-FFF2-40B4-BE49-F238E27FC236}">
                <a16:creationId xmlns:a16="http://schemas.microsoft.com/office/drawing/2014/main" id="{9CB958FB-E6AD-4398-8833-3C729789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581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AgentInfer RSI  /  离线脚手架与目标架构  /  2026-09-21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9C31D5DD-3F20-492E-8479-1866A614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295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可证伪假设">
            <a:extLst xmlns:a="http://schemas.openxmlformats.org/drawingml/2006/main">
              <a:ext uri="{FF2B5EF4-FFF2-40B4-BE49-F238E27FC236}">
                <a16:creationId xmlns:a16="http://schemas.microsoft.com/office/drawing/2014/main" id="{F65BF376-BA9B-4128-98B5-F14FF2AC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6429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可证伪假设</a:t>
            </a:r>
          </a:p>
        </p:txBody>
      </p:sp>
      <p:sp>
        <p:nvSpPr>
          <p:cNvPr id="7" name="每个候选说明预期机制、可观察变化，以及何种结果会否定它。">
            <a:extLst xmlns:a="http://schemas.openxmlformats.org/drawingml/2006/main">
              <a:ext uri="{FF2B5EF4-FFF2-40B4-BE49-F238E27FC236}">
                <a16:creationId xmlns:a16="http://schemas.microsoft.com/office/drawing/2014/main" id="{51237C52-23F7-4CF9-828C-529F5671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6429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每个候选说明预期机制、可观察变化，以及何种结果会否定它。</a:t>
            </a:r>
          </a:p>
        </p:txBody>
      </p:sp>
      <p:sp>
        <p:nvSpPr>
          <p:cNvPr id="8" name="局部可验证反馈">
            <a:extLst xmlns:a="http://schemas.openxmlformats.org/drawingml/2006/main">
              <a:ext uri="{FF2B5EF4-FFF2-40B4-BE49-F238E27FC236}">
                <a16:creationId xmlns:a16="http://schemas.microsoft.com/office/drawing/2014/main" id="{A6E3768E-FC55-4245-8C55-AD9E5096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43125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局部可验证反馈</a:t>
            </a:r>
          </a:p>
        </p:txBody>
      </p:sp>
      <p:sp>
        <p:nvSpPr>
          <p:cNvPr id="9" name="参考实现、差分与受控干预缩短定位时间，减少盲目全量试跑。">
            <a:extLst xmlns:a="http://schemas.openxmlformats.org/drawingml/2006/main">
              <a:ext uri="{FF2B5EF4-FFF2-40B4-BE49-F238E27FC236}">
                <a16:creationId xmlns:a16="http://schemas.microsoft.com/office/drawing/2014/main" id="{F44F4E93-D3AE-47A1-9152-1DE6A8E0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95575"/>
            <a:ext cx="647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参考实现、差分与受控干预缩短定位时间，减少盲目全量试跑。</a:t>
            </a:r>
          </a:p>
        </p:txBody>
      </p:sp>
      <p:sp>
        <p:nvSpPr>
          <p:cNvPr id="10" name="稳定的比较条件">
            <a:extLst xmlns:a="http://schemas.openxmlformats.org/drawingml/2006/main">
              <a:ext uri="{FF2B5EF4-FFF2-40B4-BE49-F238E27FC236}">
                <a16:creationId xmlns:a16="http://schemas.microsoft.com/office/drawing/2014/main" id="{8CB343FC-A466-4699-BF51-1916E14A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6429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稳定的比较条件</a:t>
            </a:r>
          </a:p>
        </p:txBody>
      </p:sp>
      <p:sp>
        <p:nvSpPr>
          <p:cNvPr id="11" name="固定模型、负载、硬件、种子与版本。更改条件需要新的实验合同。">
            <a:extLst xmlns:a="http://schemas.openxmlformats.org/drawingml/2006/main">
              <a:ext uri="{FF2B5EF4-FFF2-40B4-BE49-F238E27FC236}">
                <a16:creationId xmlns:a16="http://schemas.microsoft.com/office/drawing/2014/main" id="{4CF8CC85-18F9-4599-B081-BE9952B2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6429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固定模型、负载、硬件、种子与版本。更改条件需要新的实验合同。</a:t>
            </a:r>
          </a:p>
        </p:txBody>
      </p:sp>
      <p:sp>
        <p:nvSpPr>
          <p:cNvPr id="12" name="独立晋升与恢复">
            <a:extLst xmlns:a="http://schemas.openxmlformats.org/drawingml/2006/main">
              <a:ext uri="{FF2B5EF4-FFF2-40B4-BE49-F238E27FC236}">
                <a16:creationId xmlns:a16="http://schemas.microsoft.com/office/drawing/2014/main" id="{2943DD02-F8C6-42D2-AF2D-8D6988AB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6725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独立晋升与恢复</a:t>
            </a:r>
          </a:p>
        </p:txBody>
      </p:sp>
      <p:sp>
        <p:nvSpPr>
          <p:cNvPr id="13" name="验收器、发布策略和 last_good 独立于候选，失败路径同样保留证">
            <a:extLst xmlns:a="http://schemas.openxmlformats.org/drawingml/2006/main">
              <a:ext uri="{FF2B5EF4-FFF2-40B4-BE49-F238E27FC236}">
                <a16:creationId xmlns:a16="http://schemas.microsoft.com/office/drawing/2014/main" id="{6839ECE5-4D77-4B52-8CDB-F197B83D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19700"/>
            <a:ext cx="647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验收器、发布策略和 last_good 独立于候选，失败路径同样保留证据。</a:t>
            </a:r>
          </a:p>
        </p:txBody>
      </p:sp>
    </p:spTree>
    <p:extLst>
      <p:ext uri="{BB962C8B-B14F-4D97-AF65-F5344CB8AC3E}">
        <p14:creationId xmlns:p14="http://schemas.microsoft.com/office/powerpoint/2010/main" val="95486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整体分层架构">
            <a:extLst xmlns:a="http://schemas.openxmlformats.org/drawingml/2006/main">
              <a:ext uri="{FF2B5EF4-FFF2-40B4-BE49-F238E27FC236}">
                <a16:creationId xmlns:a16="http://schemas.microsoft.com/office/drawing/2014/main" id="{336E3C5F-FA7E-4314-B6E0-2DAB5B46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整体分层架构</a:t>
            </a:r>
          </a:p>
        </p:txBody>
      </p:sp>
      <p:sp>
        <p:nvSpPr>
          <p:cNvPr id="2" name="目标结构。组件能力以已验证版本与适配实现为准">
            <a:extLst xmlns:a="http://schemas.openxmlformats.org/drawingml/2006/main">
              <a:ext uri="{FF2B5EF4-FFF2-40B4-BE49-F238E27FC236}">
                <a16:creationId xmlns:a16="http://schemas.microsoft.com/office/drawing/2014/main" id="{5A784101-0620-4BC3-90C9-8484384B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398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目标结构。组件能力以已验证版本与适配实现为准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3E2F7-631A-4AC2-A79E-FE308FA6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4020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4" name="AgentInfer RSI  /  离线脚手架与目标架构  /  2">
            <a:extLst xmlns:a="http://schemas.openxmlformats.org/drawingml/2006/main">
              <a:ext uri="{FF2B5EF4-FFF2-40B4-BE49-F238E27FC236}">
                <a16:creationId xmlns:a16="http://schemas.microsoft.com/office/drawing/2014/main" id="{2DA74697-C0A1-452B-9CBE-CCB86B16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581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AgentInfer RSI  /  离线脚手架与目标架构  /  2026-09-21</a:t>
            </a:r>
          </a:p>
        </p:txBody>
      </p:sp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64D8C0D3-6DF4-4AC2-8DC0-192AA9C7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295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D9A4F-B674-403E-8C4B-FF8BD4F3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7" name="应用与 Agent 入口">
            <a:extLst xmlns:a="http://schemas.openxmlformats.org/drawingml/2006/main">
              <a:ext uri="{FF2B5EF4-FFF2-40B4-BE49-F238E27FC236}">
                <a16:creationId xmlns:a16="http://schemas.microsoft.com/office/drawing/2014/main" id="{973CAA75-18DB-44A5-9F59-33D00FEB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931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应用与 Agent 入口</a:t>
            </a:r>
          </a:p>
        </p:txBody>
      </p:sp>
      <p:sp>
        <p:nvSpPr>
          <p:cNvPr id="8" name="Coding / 办公 / Science，ZCode 或 openJ">
            <a:extLst xmlns:a="http://schemas.openxmlformats.org/drawingml/2006/main">
              <a:ext uri="{FF2B5EF4-FFF2-40B4-BE49-F238E27FC236}">
                <a16:creationId xmlns:a16="http://schemas.microsoft.com/office/drawing/2014/main" id="{2445D6A2-DDE1-4C4E-8184-0BE60346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931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Coding / 办公 / Science，ZCode 或 openJiuwen runtime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FF8C11-1537-4266-BB3D-C227EC81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962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2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10" name="Harness 与多 Agent 协作">
            <a:extLst xmlns:a="http://schemas.openxmlformats.org/drawingml/2006/main">
              <a:ext uri="{FF2B5EF4-FFF2-40B4-BE49-F238E27FC236}">
                <a16:creationId xmlns:a16="http://schemas.microsoft.com/office/drawing/2014/main" id="{0AD69998-6E6F-4A7B-9FDD-3CCD6745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931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Harness 与多 Agent 协作</a:t>
            </a:r>
          </a:p>
        </p:txBody>
      </p:sp>
      <p:sp>
        <p:nvSpPr>
          <p:cNvPr id="11" name="Planner / Profiler / Implementer / ">
            <a:extLst xmlns:a="http://schemas.openxmlformats.org/drawingml/2006/main">
              <a:ext uri="{FF2B5EF4-FFF2-40B4-BE49-F238E27FC236}">
                <a16:creationId xmlns:a16="http://schemas.microsoft.com/office/drawing/2014/main" id="{361F596E-E277-4970-A53F-31A07FCA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931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Planner / Profiler / Implementer / Reviewer</a:t>
            </a:r>
          </a:p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任务 DAG、会话、上下文、工具权限、结构化产物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3C67EC-8174-4947-8F85-23934D9D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962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13" name="AgentInfer 推理服务层">
            <a:extLst xmlns:a="http://schemas.openxmlformats.org/drawingml/2006/main">
              <a:ext uri="{FF2B5EF4-FFF2-40B4-BE49-F238E27FC236}">
                <a16:creationId xmlns:a16="http://schemas.microsoft.com/office/drawing/2014/main" id="{4D4B282F-0FB9-40E1-B009-5A6D0938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931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AgentInfer 推理服务层</a:t>
            </a:r>
          </a:p>
        </p:txBody>
      </p:sp>
      <p:sp>
        <p:nvSpPr>
          <p:cNvPr id="14" name="Semantic Router、Router、工作流观测与准入策略&#10;A">
            <a:extLst xmlns:a="http://schemas.openxmlformats.org/drawingml/2006/main">
              <a:ext uri="{FF2B5EF4-FFF2-40B4-BE49-F238E27FC236}">
                <a16:creationId xmlns:a16="http://schemas.microsoft.com/office/drawing/2014/main" id="{7181B3BC-0C1D-46F3-8F6F-94FC04A6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931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Semantic Router、Router、工作流观测与准入策略</a:t>
            </a:r>
          </a:p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AgentCache 提供工作流感知，vLLM 保有原生调度与物理 KV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78326F-4EBD-4E54-8FD8-F1513741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6196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16" name="vLLM / CUDA backend">
            <a:extLst xmlns:a="http://schemas.openxmlformats.org/drawingml/2006/main">
              <a:ext uri="{FF2B5EF4-FFF2-40B4-BE49-F238E27FC236}">
                <a16:creationId xmlns:a16="http://schemas.microsoft.com/office/drawing/2014/main" id="{C9490CBB-8A58-42CD-8FCF-F4415CF6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4314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vLLM / CUDA backend</a:t>
            </a:r>
          </a:p>
        </p:txBody>
      </p:sp>
      <p:sp>
        <p:nvSpPr>
          <p:cNvPr id="17" name="固定 GLM-5.3-Flash，环境未验证">
            <a:extLst xmlns:a="http://schemas.openxmlformats.org/drawingml/2006/main">
              <a:ext uri="{FF2B5EF4-FFF2-40B4-BE49-F238E27FC236}">
                <a16:creationId xmlns:a16="http://schemas.microsoft.com/office/drawing/2014/main" id="{8DBDBBC5-D61B-4C66-9252-7F7D66EB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00850"/>
            <a:ext cx="43148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固定 GLM-5.3-Flash，环境未验证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BD502A-2184-482D-AE13-13DCFBCC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324600"/>
            <a:ext cx="46196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19" name="vLLM-Ascend backend">
            <a:extLst xmlns:a="http://schemas.openxmlformats.org/drawingml/2006/main">
              <a:ext uri="{FF2B5EF4-FFF2-40B4-BE49-F238E27FC236}">
                <a16:creationId xmlns:a16="http://schemas.microsoft.com/office/drawing/2014/main" id="{DCD203E1-C5CB-4139-B8C6-3C2B626A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6419850"/>
            <a:ext cx="4314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vLLM-Ascend backend</a:t>
            </a:r>
          </a:p>
        </p:txBody>
      </p:sp>
      <p:sp>
        <p:nvSpPr>
          <p:cNvPr id="20" name="独立兼容与性能证据，环境未验证">
            <a:extLst xmlns:a="http://schemas.openxmlformats.org/drawingml/2006/main">
              <a:ext uri="{FF2B5EF4-FFF2-40B4-BE49-F238E27FC236}">
                <a16:creationId xmlns:a16="http://schemas.microsoft.com/office/drawing/2014/main" id="{3D7EC3C8-D561-4D10-BB5A-1A33EC70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6800850"/>
            <a:ext cx="43148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独立兼容与性能证据，环境未验证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C73A3F-1633-4146-A8A6-4792BEF6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1924050"/>
            <a:ext cx="38004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95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22" name="RSI Controller">
            <a:extLst xmlns:a="http://schemas.openxmlformats.org/drawingml/2006/main">
              <a:ext uri="{FF2B5EF4-FFF2-40B4-BE49-F238E27FC236}">
                <a16:creationId xmlns:a16="http://schemas.microsoft.com/office/drawing/2014/main" id="{BDA73BAC-243D-46AF-AE9C-D3105842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2019300"/>
            <a:ext cx="3495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RSI Controller</a:t>
            </a:r>
          </a:p>
        </p:txBody>
      </p:sp>
      <p:sp>
        <p:nvSpPr>
          <p:cNvPr id="23" name="唯一状态迁移入口&#10;预算、租约、版本指针与恢复">
            <a:extLst xmlns:a="http://schemas.openxmlformats.org/drawingml/2006/main">
              <a:ext uri="{FF2B5EF4-FFF2-40B4-BE49-F238E27FC236}">
                <a16:creationId xmlns:a16="http://schemas.microsoft.com/office/drawing/2014/main" id="{7E6CFD41-4187-4B13-87FE-2CC650AB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2400300"/>
            <a:ext cx="3495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唯一状态迁移入口</a:t>
            </a:r>
          </a:p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预算、租约、版本指针与恢复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570DB7-E1DD-4BEA-AE75-F7C4BFD8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790950"/>
            <a:ext cx="38004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F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25" name="隔离实验与独立裁决">
            <a:extLst xmlns:a="http://schemas.openxmlformats.org/drawingml/2006/main">
              <a:ext uri="{FF2B5EF4-FFF2-40B4-BE49-F238E27FC236}">
                <a16:creationId xmlns:a16="http://schemas.microsoft.com/office/drawing/2014/main" id="{CC263156-BDF2-473E-817B-D9739761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3886200"/>
            <a:ext cx="3495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隔离实验与独立裁决</a:t>
            </a:r>
          </a:p>
        </p:txBody>
      </p:sp>
      <p:sp>
        <p:nvSpPr>
          <p:cNvPr id="26" name="AgentBench / 局部探针 / E2E&#10;候选设备与稳定服务隔离">
            <a:extLst xmlns:a="http://schemas.openxmlformats.org/drawingml/2006/main">
              <a:ext uri="{FF2B5EF4-FFF2-40B4-BE49-F238E27FC236}">
                <a16:creationId xmlns:a16="http://schemas.microsoft.com/office/drawing/2014/main" id="{2752BF1A-1B26-4CBB-B30F-5CA7CAB9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4267200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AgentBench / 局部探针 / E2E</a:t>
            </a:r>
          </a:p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候选设备与稳定服务隔离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438A28-4D73-42F4-B0A1-CAC35BC8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5734050"/>
            <a:ext cx="38004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2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28" name="证据与分层知识库">
            <a:extLst xmlns:a="http://schemas.openxmlformats.org/drawingml/2006/main">
              <a:ext uri="{FF2B5EF4-FFF2-40B4-BE49-F238E27FC236}">
                <a16:creationId xmlns:a16="http://schemas.microsoft.com/office/drawing/2014/main" id="{FA08BE63-C847-4C16-9BA5-C8E6DC2D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5829300"/>
            <a:ext cx="3495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证据与分层知识库</a:t>
            </a:r>
          </a:p>
        </p:txBody>
      </p:sp>
      <p:sp>
        <p:nvSpPr>
          <p:cNvPr id="29" name="原始证据、scope、失效条件&#10;已验证知识进入下一轮">
            <a:extLst xmlns:a="http://schemas.openxmlformats.org/drawingml/2006/main">
              <a:ext uri="{FF2B5EF4-FFF2-40B4-BE49-F238E27FC236}">
                <a16:creationId xmlns:a16="http://schemas.microsoft.com/office/drawing/2014/main" id="{B3C51E6E-6927-451B-AE42-9AA11608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6210300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原始证据、scope、失效条件</a:t>
            </a:r>
          </a:p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已验证知识进入下一轮</a:t>
            </a:r>
          </a:p>
        </p:txBody>
      </p:sp>
      <p:cxnSp>
        <p:nvCxnSpPr>
          <p:cNvPr id="77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5419725" y="266700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47151"/>
            </a:solidFill>
            <a:prstDash val="solid"/>
            <a:tail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5419725" y="426720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47151"/>
            </a:solidFill>
            <a:prstDash val="solid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2919413" y="5867400"/>
            <a:ext cx="2500313" cy="457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347151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12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5419725" y="5867400"/>
            <a:ext cx="2500313" cy="457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347151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21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12730163" y="3162300"/>
            <a:ext cx="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47151"/>
            </a:solidFill>
            <a:prstDash val="solid"/>
            <a:tail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24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12730163" y="5105400"/>
            <a:ext cx="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47151"/>
            </a:solidFill>
            <a:prstDash val="solid"/>
            <a:tail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21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10229850" y="2543175"/>
            <a:ext cx="600075" cy="1152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47151"/>
            </a:solidFill>
            <a:prstDash val="dash"/>
            <a:tailEnd type="triangle" w="sm" len="sm"/>
          </a:ln>
        </p:spPr>
      </p:cxnSp>
      <p:cxnSp>
        <p:nvCxnSpPr>
          <p:cNvPr id="84" name=""/>
          <p:cNvCxnSpPr>
            <a:stCxn xmlns:a="http://schemas.openxmlformats.org/drawingml/2006/main" id="12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10229850" y="5295900"/>
            <a:ext cx="600075" cy="1095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47151"/>
            </a:solidFill>
            <a:prstDash val="dash"/>
            <a:tailEnd type="triangle" w="sm" len="sm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8BA39B-657B-4C10-84CC-D2976D0A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4238" y="63865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11523B-71E6-4D6B-8017-246A8427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4238" y="17859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12888B-8B3B-46DD-986E-9BFE73D8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8" y="17859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A680CF-76A2-4C0D-9286-E929DB11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8" y="36909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" name=""/>
          <p:cNvCxnSpPr>
            <a:stCxn xmlns:a="http://schemas.openxmlformats.org/drawingml/2006/main" id="2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14630400" y="6391275"/>
            <a:ext cx="223838" cy="1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47151"/>
            </a:solidFill>
            <a:prstDash val="dash"/>
            <a:tailEnd type="none" w="sm" len="sm"/>
          </a:ln>
        </p:spPr>
      </p:cxnSp>
      <p:cxnSp>
        <p:nvCxnSpPr>
          <p:cNvPr id="90" name=""/>
          <p:cNvCxnSpPr>
            <a:stCxn xmlns:a="http://schemas.openxmlformats.org/drawingml/2006/main" id="38" idx="0"/>
            <a:endCxn xmlns:a="http://schemas.openxmlformats.org/drawingml/2006/main" id="39" idx="2"/>
          </p:cNvCxnSpPr>
          <p:nvPr/>
        </p:nvCxnSpPr>
        <p:spPr>
          <a:xfrm xmlns:a="http://schemas.openxmlformats.org/drawingml/2006/main" flipV="1">
            <a:off x="14859001" y="1795463"/>
            <a:ext cx="0" cy="45910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47151"/>
            </a:solidFill>
            <a:prstDash val="dash"/>
            <a:tailEnd type="none" w="sm" len="sm"/>
          </a:ln>
        </p:spPr>
      </p:cxnSp>
      <p:cxnSp>
        <p:nvCxnSpPr>
          <p:cNvPr id="91" name=""/>
          <p:cNvCxnSpPr>
            <a:stCxn xmlns:a="http://schemas.openxmlformats.org/drawingml/2006/main" id="39" idx="1"/>
            <a:endCxn xmlns:a="http://schemas.openxmlformats.org/drawingml/2006/main" id="40" idx="3"/>
          </p:cNvCxnSpPr>
          <p:nvPr/>
        </p:nvCxnSpPr>
        <p:spPr>
          <a:xfrm xmlns:a="http://schemas.openxmlformats.org/drawingml/2006/main" flipH="1">
            <a:off x="385763" y="1790701"/>
            <a:ext cx="144684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47151"/>
            </a:solidFill>
            <a:prstDash val="dash"/>
            <a:tailEnd type="none" w="sm" len="sm"/>
          </a:ln>
        </p:spPr>
      </p:cxnSp>
      <p:cxnSp>
        <p:nvCxnSpPr>
          <p:cNvPr id="92" name=""/>
          <p:cNvCxnSpPr>
            <a:stCxn xmlns:a="http://schemas.openxmlformats.org/drawingml/2006/main" id="40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381001" y="1795463"/>
            <a:ext cx="0" cy="18954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47151"/>
            </a:solidFill>
            <a:prstDash val="dash"/>
            <a:tailEnd type="none" w="sm" len="sm"/>
          </a:ln>
        </p:spPr>
      </p:cxnSp>
      <p:cxnSp>
        <p:nvCxnSpPr>
          <p:cNvPr id="93" name=""/>
          <p:cNvCxnSpPr>
            <a:stCxn xmlns:a="http://schemas.openxmlformats.org/drawingml/2006/main" id="41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85763" y="3695700"/>
            <a:ext cx="223837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47151"/>
            </a:solidFill>
            <a:prstDash val="dash"/>
            <a:tailEnd type="triangle" w="sm" len="sm"/>
          </a:ln>
        </p:spPr>
      </p:cxnSp>
      <p:sp>
        <p:nvSpPr>
          <p:cNvPr id="47" name="在线路径与 RSI 旁路分离。知识按 scope 注入下一轮 Harn">
            <a:extLst xmlns:a="http://schemas.openxmlformats.org/drawingml/2006/main">
              <a:ext uri="{FF2B5EF4-FFF2-40B4-BE49-F238E27FC236}">
                <a16:creationId xmlns:a16="http://schemas.microsoft.com/office/drawing/2014/main" id="{287D416A-0549-4588-B41A-9A3F675B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467600"/>
            <a:ext cx="1400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在线路径与 RSI 旁路分离。知识按 scope 注入下一轮 Harness，模型权重保持固定。</a:t>
            </a:r>
          </a:p>
        </p:txBody>
      </p:sp>
    </p:spTree>
    <p:extLst>
      <p:ext uri="{BB962C8B-B14F-4D97-AF65-F5344CB8AC3E}">
        <p14:creationId xmlns:p14="http://schemas.microsoft.com/office/powerpoint/2010/main" val="19417192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两条后端共享的引擎 taxonomy">
            <a:extLst xmlns:a="http://schemas.openxmlformats.org/drawingml/2006/main">
              <a:ext uri="{FF2B5EF4-FFF2-40B4-BE49-F238E27FC236}">
                <a16:creationId xmlns:a16="http://schemas.microsoft.com/office/drawing/2014/main" id="{AB1F1E54-84E9-47D4-96D0-989EAD6F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两条后端共享的引擎 taxonomy</a:t>
            </a:r>
          </a:p>
        </p:txBody>
      </p:sp>
      <p:sp>
        <p:nvSpPr>
          <p:cNvPr id="2" name="统一定位与反馈标签，保留 CUDA / Ascend 的独立实现和证据">
            <a:extLst xmlns:a="http://schemas.openxmlformats.org/drawingml/2006/main">
              <a:ext uri="{FF2B5EF4-FFF2-40B4-BE49-F238E27FC236}">
                <a16:creationId xmlns:a16="http://schemas.microsoft.com/office/drawing/2014/main" id="{0ED9FFC3-F732-45E1-BA53-F46B131F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398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统一定位与反馈标签，保留 CUDA / Ascend 的独立实现和证据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3E0A9-3581-4287-A80C-03C06A2E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4020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4" name="AgentInfer RSI  /  离线脚手架与目标架构  /  2">
            <a:extLst xmlns:a="http://schemas.openxmlformats.org/drawingml/2006/main">
              <a:ext uri="{FF2B5EF4-FFF2-40B4-BE49-F238E27FC236}">
                <a16:creationId xmlns:a16="http://schemas.microsoft.com/office/drawing/2014/main" id="{675DA8C3-6BFC-4405-A40D-2E6D4697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581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AgentInfer RSI  /  离线脚手架与目标架构  /  2026-09-21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D2328226-9302-4AAC-801B-F6253CB2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295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vLLM / CUDA">
            <a:extLst xmlns:a="http://schemas.openxmlformats.org/drawingml/2006/main">
              <a:ext uri="{FF2B5EF4-FFF2-40B4-BE49-F238E27FC236}">
                <a16:creationId xmlns:a16="http://schemas.microsoft.com/office/drawing/2014/main" id="{1D53ED67-9092-41C0-82F5-88EA42E8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vLLM / CUDA</a:t>
            </a:r>
          </a:p>
        </p:txBody>
      </p:sp>
      <p:sp>
        <p:nvSpPr>
          <p:cNvPr id="7" name="vLLM-Ascend">
            <a:extLst xmlns:a="http://schemas.openxmlformats.org/drawingml/2006/main">
              <a:ext uri="{FF2B5EF4-FFF2-40B4-BE49-F238E27FC236}">
                <a16:creationId xmlns:a16="http://schemas.microsoft.com/office/drawing/2014/main" id="{1A68141D-8733-4393-B042-085B25A9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vLLM-Ascend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ED8CA-2A98-4527-96F8-5BEEEB49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64198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2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9" name="api_server">
            <a:extLst xmlns:a="http://schemas.openxmlformats.org/drawingml/2006/main">
              <a:ext uri="{FF2B5EF4-FFF2-40B4-BE49-F238E27FC236}">
                <a16:creationId xmlns:a16="http://schemas.microsoft.com/office/drawing/2014/main" id="{8CBC2209-6D34-4ABF-9CE1-D9DDA682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657475"/>
            <a:ext cx="285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api_server</a:t>
            </a:r>
          </a:p>
        </p:txBody>
      </p:sp>
      <p:sp>
        <p:nvSpPr>
          <p:cNvPr id="10" name="协议 / 输入 / 流式输出">
            <a:extLst xmlns:a="http://schemas.openxmlformats.org/drawingml/2006/main">
              <a:ext uri="{FF2B5EF4-FFF2-40B4-BE49-F238E27FC236}">
                <a16:creationId xmlns:a16="http://schemas.microsoft.com/office/drawing/2014/main" id="{E3E97C01-4DE1-49CC-B11A-F06EC921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657475"/>
            <a:ext cx="31527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协议 / 输入 / 流式输出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BE554-B6DB-4E1E-9725-FEFE2A73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19375"/>
            <a:ext cx="64198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2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12" name="api_server">
            <a:extLst xmlns:a="http://schemas.openxmlformats.org/drawingml/2006/main">
              <a:ext uri="{FF2B5EF4-FFF2-40B4-BE49-F238E27FC236}">
                <a16:creationId xmlns:a16="http://schemas.microsoft.com/office/drawing/2014/main" id="{8330CFD9-B518-453D-BA63-8B7E6F72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657475"/>
            <a:ext cx="285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api_server</a:t>
            </a:r>
          </a:p>
        </p:txBody>
      </p:sp>
      <p:sp>
        <p:nvSpPr>
          <p:cNvPr id="13" name="协议 / 输入 / 流式输出">
            <a:extLst xmlns:a="http://schemas.openxmlformats.org/drawingml/2006/main">
              <a:ext uri="{FF2B5EF4-FFF2-40B4-BE49-F238E27FC236}">
                <a16:creationId xmlns:a16="http://schemas.microsoft.com/office/drawing/2014/main" id="{E02B775F-2EBB-4ABE-B545-FCAD9E83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657475"/>
            <a:ext cx="31527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协议 / 输入 / 流式输出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3BF6A-6363-4F15-8E84-C41D9109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64198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15" name="engine">
            <a:extLst xmlns:a="http://schemas.openxmlformats.org/drawingml/2006/main">
              <a:ext uri="{FF2B5EF4-FFF2-40B4-BE49-F238E27FC236}">
                <a16:creationId xmlns:a16="http://schemas.microsoft.com/office/drawing/2014/main" id="{262D0102-8323-433B-9BCA-A0E9C580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324225"/>
            <a:ext cx="285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engine</a:t>
            </a:r>
          </a:p>
        </p:txBody>
      </p:sp>
      <p:sp>
        <p:nvSpPr>
          <p:cNvPr id="16" name="调度 / KV 管理 / 生命周期">
            <a:extLst xmlns:a="http://schemas.openxmlformats.org/drawingml/2006/main">
              <a:ext uri="{FF2B5EF4-FFF2-40B4-BE49-F238E27FC236}">
                <a16:creationId xmlns:a16="http://schemas.microsoft.com/office/drawing/2014/main" id="{C5DDD731-9C9F-4E30-AA4D-167D5FF1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324225"/>
            <a:ext cx="31527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调度 / KV 管理 / 生命周期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2570B2-F2FE-4270-91FE-A9D42587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86125"/>
            <a:ext cx="64198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18" name="engine">
            <a:extLst xmlns:a="http://schemas.openxmlformats.org/drawingml/2006/main">
              <a:ext uri="{FF2B5EF4-FFF2-40B4-BE49-F238E27FC236}">
                <a16:creationId xmlns:a16="http://schemas.microsoft.com/office/drawing/2014/main" id="{76207758-A6EB-4A49-89F8-7AFAC4C0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285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engine</a:t>
            </a:r>
          </a:p>
        </p:txBody>
      </p:sp>
      <p:sp>
        <p:nvSpPr>
          <p:cNvPr id="19" name="调度 / KV 管理 / 生命周期">
            <a:extLst xmlns:a="http://schemas.openxmlformats.org/drawingml/2006/main">
              <a:ext uri="{FF2B5EF4-FFF2-40B4-BE49-F238E27FC236}">
                <a16:creationId xmlns:a16="http://schemas.microsoft.com/office/drawing/2014/main" id="{D3D6CE7C-BFA4-49B9-8688-11208392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3324225"/>
            <a:ext cx="31527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调度 / KV 管理 / 生命周期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9822E6-25CD-4D54-BE13-C757D05E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64198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2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21" name="worker">
            <a:extLst xmlns:a="http://schemas.openxmlformats.org/drawingml/2006/main">
              <a:ext uri="{FF2B5EF4-FFF2-40B4-BE49-F238E27FC236}">
                <a16:creationId xmlns:a16="http://schemas.microsoft.com/office/drawing/2014/main" id="{ADC83182-31D2-4B0A-A308-00CD4804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990975"/>
            <a:ext cx="285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worker</a:t>
            </a:r>
          </a:p>
        </p:txBody>
      </p:sp>
      <p:sp>
        <p:nvSpPr>
          <p:cNvPr id="22" name="设备执行 / Model Runner">
            <a:extLst xmlns:a="http://schemas.openxmlformats.org/drawingml/2006/main">
              <a:ext uri="{FF2B5EF4-FFF2-40B4-BE49-F238E27FC236}">
                <a16:creationId xmlns:a16="http://schemas.microsoft.com/office/drawing/2014/main" id="{ECE864B3-D486-4079-A4FE-C9E9F803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990975"/>
            <a:ext cx="31527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设备执行 / Model Runner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9FCB33-9072-4133-B05A-86A00B58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52875"/>
            <a:ext cx="64198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2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24" name="worker">
            <a:extLst xmlns:a="http://schemas.openxmlformats.org/drawingml/2006/main">
              <a:ext uri="{FF2B5EF4-FFF2-40B4-BE49-F238E27FC236}">
                <a16:creationId xmlns:a16="http://schemas.microsoft.com/office/drawing/2014/main" id="{0011DC87-B091-45DF-AA1B-E3FD410E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990975"/>
            <a:ext cx="285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worker</a:t>
            </a:r>
          </a:p>
        </p:txBody>
      </p:sp>
      <p:sp>
        <p:nvSpPr>
          <p:cNvPr id="25" name="设备执行 / Model Runner">
            <a:extLst xmlns:a="http://schemas.openxmlformats.org/drawingml/2006/main">
              <a:ext uri="{FF2B5EF4-FFF2-40B4-BE49-F238E27FC236}">
                <a16:creationId xmlns:a16="http://schemas.microsoft.com/office/drawing/2014/main" id="{A5616FA1-871B-4E7C-8A4C-EED4DD6D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3990975"/>
            <a:ext cx="31527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设备执行 / Model Runner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054F2D-74D0-4086-BC32-29171CE3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64198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27" name="model_scripts">
            <a:extLst xmlns:a="http://schemas.openxmlformats.org/drawingml/2006/main">
              <a:ext uri="{FF2B5EF4-FFF2-40B4-BE49-F238E27FC236}">
                <a16:creationId xmlns:a16="http://schemas.microsoft.com/office/drawing/2014/main" id="{C7F13DF8-0EDD-43D2-B48D-B5D840A8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657725"/>
            <a:ext cx="285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model_scripts</a:t>
            </a:r>
          </a:p>
        </p:txBody>
      </p:sp>
      <p:sp>
        <p:nvSpPr>
          <p:cNvPr id="28" name="模型实现 / 固定权重加载">
            <a:extLst xmlns:a="http://schemas.openxmlformats.org/drawingml/2006/main">
              <a:ext uri="{FF2B5EF4-FFF2-40B4-BE49-F238E27FC236}">
                <a16:creationId xmlns:a16="http://schemas.microsoft.com/office/drawing/2014/main" id="{BB4F5EF1-012D-4249-A0D9-3A564FE5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657725"/>
            <a:ext cx="31527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模型实现 / 固定权重加载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C9EDB9-0518-46F1-B233-593ADA06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19625"/>
            <a:ext cx="64198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30" name="model_scripts">
            <a:extLst xmlns:a="http://schemas.openxmlformats.org/drawingml/2006/main">
              <a:ext uri="{FF2B5EF4-FFF2-40B4-BE49-F238E27FC236}">
                <a16:creationId xmlns:a16="http://schemas.microsoft.com/office/drawing/2014/main" id="{0E2FF60B-24F4-47EC-B5BA-4E74641E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657725"/>
            <a:ext cx="285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model_scripts</a:t>
            </a:r>
          </a:p>
        </p:txBody>
      </p:sp>
      <p:sp>
        <p:nvSpPr>
          <p:cNvPr id="31" name="模型实现 / 固定权重加载">
            <a:extLst xmlns:a="http://schemas.openxmlformats.org/drawingml/2006/main">
              <a:ext uri="{FF2B5EF4-FFF2-40B4-BE49-F238E27FC236}">
                <a16:creationId xmlns:a16="http://schemas.microsoft.com/office/drawing/2014/main" id="{7D3A8EFB-DDF0-40F6-9AE3-933DA7E8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657725"/>
            <a:ext cx="31527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模型实现 / 固定权重加载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A8A78D-4979-4F20-BC29-4D9A0C5F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64198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2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33" name="ops.communication">
            <a:extLst xmlns:a="http://schemas.openxmlformats.org/drawingml/2006/main">
              <a:ext uri="{FF2B5EF4-FFF2-40B4-BE49-F238E27FC236}">
                <a16:creationId xmlns:a16="http://schemas.microsoft.com/office/drawing/2014/main" id="{4E6C2126-7953-4F67-B85B-44A6F46F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324475"/>
            <a:ext cx="285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ops.communication</a:t>
            </a:r>
          </a:p>
        </p:txBody>
      </p:sp>
      <p:sp>
        <p:nvSpPr>
          <p:cNvPr id="34" name="通信 / KV 传输">
            <a:extLst xmlns:a="http://schemas.openxmlformats.org/drawingml/2006/main">
              <a:ext uri="{FF2B5EF4-FFF2-40B4-BE49-F238E27FC236}">
                <a16:creationId xmlns:a16="http://schemas.microsoft.com/office/drawing/2014/main" id="{C07BA08D-5BC6-46F4-A4D5-BFBC2B3E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324475"/>
            <a:ext cx="31527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通信 / KV 传输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6F2AD3-8B2A-4734-98CB-3878252B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86375"/>
            <a:ext cx="64198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2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36" name="ops.communication">
            <a:extLst xmlns:a="http://schemas.openxmlformats.org/drawingml/2006/main">
              <a:ext uri="{FF2B5EF4-FFF2-40B4-BE49-F238E27FC236}">
                <a16:creationId xmlns:a16="http://schemas.microsoft.com/office/drawing/2014/main" id="{E23CCF77-622E-4336-B31C-BD270A6A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324475"/>
            <a:ext cx="285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ops.communication</a:t>
            </a:r>
          </a:p>
        </p:txBody>
      </p:sp>
      <p:sp>
        <p:nvSpPr>
          <p:cNvPr id="37" name="通信 / KV 传输">
            <a:extLst xmlns:a="http://schemas.openxmlformats.org/drawingml/2006/main">
              <a:ext uri="{FF2B5EF4-FFF2-40B4-BE49-F238E27FC236}">
                <a16:creationId xmlns:a16="http://schemas.microsoft.com/office/drawing/2014/main" id="{AE3C0DFF-755A-4931-A669-7547F4E3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324475"/>
            <a:ext cx="31527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通信 / KV 传输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3B7E44-41C6-4700-85ED-33CC686A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53125"/>
            <a:ext cx="64198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39" name="ops.compute">
            <a:extLst xmlns:a="http://schemas.openxmlformats.org/drawingml/2006/main">
              <a:ext uri="{FF2B5EF4-FFF2-40B4-BE49-F238E27FC236}">
                <a16:creationId xmlns:a16="http://schemas.microsoft.com/office/drawing/2014/main" id="{09868B29-7056-4BA5-B09D-1B6D98E2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991225"/>
            <a:ext cx="285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ops.compute</a:t>
            </a:r>
          </a:p>
        </p:txBody>
      </p:sp>
      <p:sp>
        <p:nvSpPr>
          <p:cNvPr id="40" name="计算算子 / kernel">
            <a:extLst xmlns:a="http://schemas.openxmlformats.org/drawingml/2006/main">
              <a:ext uri="{FF2B5EF4-FFF2-40B4-BE49-F238E27FC236}">
                <a16:creationId xmlns:a16="http://schemas.microsoft.com/office/drawing/2014/main" id="{428EAFD2-FEFD-4B02-8CC5-F19863C1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991225"/>
            <a:ext cx="31527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计算算子 / kernel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F8488B-C063-4172-97CA-D537000A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953125"/>
            <a:ext cx="64198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42" name="ops.compute">
            <a:extLst xmlns:a="http://schemas.openxmlformats.org/drawingml/2006/main">
              <a:ext uri="{FF2B5EF4-FFF2-40B4-BE49-F238E27FC236}">
                <a16:creationId xmlns:a16="http://schemas.microsoft.com/office/drawing/2014/main" id="{0D2816F4-32B4-4707-A9B5-CE9B2725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991225"/>
            <a:ext cx="285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ops.compute</a:t>
            </a:r>
          </a:p>
        </p:txBody>
      </p:sp>
      <p:sp>
        <p:nvSpPr>
          <p:cNvPr id="43" name="计算算子 / kernel">
            <a:extLst xmlns:a="http://schemas.openxmlformats.org/drawingml/2006/main">
              <a:ext uri="{FF2B5EF4-FFF2-40B4-BE49-F238E27FC236}">
                <a16:creationId xmlns:a16="http://schemas.microsoft.com/office/drawing/2014/main" id="{7B6DB64F-2DA8-433E-85C1-EC89B4C1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991225"/>
            <a:ext cx="31527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计算算子 / kernel</a:t>
            </a:r>
          </a:p>
        </p:txBody>
      </p:sp>
      <p:sp>
        <p:nvSpPr>
          <p:cNvPr id="44" name="parallel：跨层执行策略（TP / PP / DP / EP /">
            <a:extLst xmlns:a="http://schemas.openxmlformats.org/drawingml/2006/main">
              <a:ext uri="{FF2B5EF4-FFF2-40B4-BE49-F238E27FC236}">
                <a16:creationId xmlns:a16="http://schemas.microsoft.com/office/drawing/2014/main" id="{650087AB-3561-4FAB-B352-1484C2E1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810375"/>
            <a:ext cx="1352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parallel：跨层执行策略（TP / PP / DP / EP / CP / PD 等）</a:t>
            </a:r>
          </a:p>
        </p:txBody>
      </p:sp>
      <p:sp>
        <p:nvSpPr>
          <p:cNvPr id="45" name="同一分类不等于同一实现。后端 API、通信与算子差异需要独立验证。">
            <a:extLst xmlns:a="http://schemas.openxmlformats.org/drawingml/2006/main">
              <a:ext uri="{FF2B5EF4-FFF2-40B4-BE49-F238E27FC236}">
                <a16:creationId xmlns:a16="http://schemas.microsoft.com/office/drawing/2014/main" id="{827F9F3E-A53C-442B-A104-B1EFED56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7419975"/>
            <a:ext cx="1352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同一分类不等于同一实现。后端 API、通信与算子差异需要独立验证。</a:t>
            </a:r>
          </a:p>
        </p:txBody>
      </p:sp>
    </p:spTree>
    <p:extLst>
      <p:ext uri="{BB962C8B-B14F-4D97-AF65-F5344CB8AC3E}">
        <p14:creationId xmlns:p14="http://schemas.microsoft.com/office/powerpoint/2010/main" val="2268782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多 Agent 协作与 Harness">
            <a:extLst xmlns:a="http://schemas.openxmlformats.org/drawingml/2006/main">
              <a:ext uri="{FF2B5EF4-FFF2-40B4-BE49-F238E27FC236}">
                <a16:creationId xmlns:a16="http://schemas.microsoft.com/office/drawing/2014/main" id="{9DEE8F0C-A551-4E41-8F24-52E2340A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多 Agent 协作与 Harness</a:t>
            </a:r>
          </a:p>
        </p:txBody>
      </p:sp>
      <p:sp>
        <p:nvSpPr>
          <p:cNvPr id="2" name="角色提出产物，Controller 决定派发与状态推进">
            <a:extLst xmlns:a="http://schemas.openxmlformats.org/drawingml/2006/main">
              <a:ext uri="{FF2B5EF4-FFF2-40B4-BE49-F238E27FC236}">
                <a16:creationId xmlns:a16="http://schemas.microsoft.com/office/drawing/2014/main" id="{893E9C7B-3C86-448D-8B5F-3D8A59D1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398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角色提出产物，Controller 决定派发与状态推进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916C8-8BD4-4DED-BCE1-9B6427E5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4020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4" name="AgentInfer RSI  /  离线脚手架与目标架构  /  2">
            <a:extLst xmlns:a="http://schemas.openxmlformats.org/drawingml/2006/main">
              <a:ext uri="{FF2B5EF4-FFF2-40B4-BE49-F238E27FC236}">
                <a16:creationId xmlns:a16="http://schemas.microsoft.com/office/drawing/2014/main" id="{B56C8D48-CB0A-44D1-BE74-5327F937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581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AgentInfer RSI  /  离线脚手架与目标架构  /  2026-09-21</a:t>
            </a:r>
          </a:p>
        </p:txBody>
      </p:sp>
      <p:sp>
        <p:nvSpPr>
          <p:cNvPr id="5" name="05">
            <a:extLst xmlns:a="http://schemas.openxmlformats.org/drawingml/2006/main">
              <a:ext uri="{FF2B5EF4-FFF2-40B4-BE49-F238E27FC236}">
                <a16:creationId xmlns:a16="http://schemas.microsoft.com/office/drawing/2014/main" id="{42A240E6-F521-436F-A7F7-7778A420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295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14B94-6767-460A-963C-46A4269B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52650"/>
            <a:ext cx="32385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7" name="Profiler">
            <a:extLst xmlns:a="http://schemas.openxmlformats.org/drawingml/2006/main">
              <a:ext uri="{FF2B5EF4-FFF2-40B4-BE49-F238E27FC236}">
                <a16:creationId xmlns:a16="http://schemas.microsoft.com/office/drawing/2014/main" id="{4BA87A8B-EFC6-425F-BF17-55B4B14D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Profiler</a:t>
            </a:r>
          </a:p>
        </p:txBody>
      </p:sp>
      <p:sp>
        <p:nvSpPr>
          <p:cNvPr id="8" name="BottleneckReport&#10;现象、最小复现、证据">
            <a:extLst xmlns:a="http://schemas.openxmlformats.org/drawingml/2006/main">
              <a:ext uri="{FF2B5EF4-FFF2-40B4-BE49-F238E27FC236}">
                <a16:creationId xmlns:a16="http://schemas.microsoft.com/office/drawing/2014/main" id="{FD825597-8A7B-4D67-BDCE-B9DA2C9F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285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BottleneckReport</a:t>
            </a:r>
          </a:p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现象、最小复现、证据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83C33-EC15-47FA-B0BD-C1131D9B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52650"/>
            <a:ext cx="32385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2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10" name="Planner">
            <a:extLst xmlns:a="http://schemas.openxmlformats.org/drawingml/2006/main">
              <a:ext uri="{FF2B5EF4-FFF2-40B4-BE49-F238E27FC236}">
                <a16:creationId xmlns:a16="http://schemas.microsoft.com/office/drawing/2014/main" id="{A210AC87-BA19-4EB1-9D48-9813F74F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Planner</a:t>
            </a:r>
          </a:p>
        </p:txBody>
      </p:sp>
      <p:sp>
        <p:nvSpPr>
          <p:cNvPr id="11" name="ExperimentSpec&#10;假设、预测、证伪条件">
            <a:extLst xmlns:a="http://schemas.openxmlformats.org/drawingml/2006/main">
              <a:ext uri="{FF2B5EF4-FFF2-40B4-BE49-F238E27FC236}">
                <a16:creationId xmlns:a16="http://schemas.microsoft.com/office/drawing/2014/main" id="{D73C2755-D5CC-4DFD-B361-8C2124AE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47950"/>
            <a:ext cx="285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ExperimentSpec</a:t>
            </a:r>
          </a:p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假设、预测、证伪条件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96261-4D5B-4A40-8110-86BA275D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152650"/>
            <a:ext cx="32385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13" name="Implementer">
            <a:extLst xmlns:a="http://schemas.openxmlformats.org/drawingml/2006/main">
              <a:ext uri="{FF2B5EF4-FFF2-40B4-BE49-F238E27FC236}">
                <a16:creationId xmlns:a16="http://schemas.microsoft.com/office/drawing/2014/main" id="{4637BC9D-647E-4468-A38B-11243702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66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Implementer</a:t>
            </a:r>
          </a:p>
        </p:txBody>
      </p:sp>
      <p:sp>
        <p:nvSpPr>
          <p:cNvPr id="14" name="CandidateManifest&#10;补丁、配置、轻量检查">
            <a:extLst xmlns:a="http://schemas.openxmlformats.org/drawingml/2006/main">
              <a:ext uri="{FF2B5EF4-FFF2-40B4-BE49-F238E27FC236}">
                <a16:creationId xmlns:a16="http://schemas.microsoft.com/office/drawing/2014/main" id="{28498AB8-43B5-4FA0-9FDF-A99013B6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47950"/>
            <a:ext cx="285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CandidateManifest</a:t>
            </a:r>
          </a:p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补丁、配置、轻量检查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16AB4-E4EF-4547-9679-268168BF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152650"/>
            <a:ext cx="32385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16" name="Reviewer">
            <a:extLst xmlns:a="http://schemas.openxmlformats.org/drawingml/2006/main">
              <a:ext uri="{FF2B5EF4-FFF2-40B4-BE49-F238E27FC236}">
                <a16:creationId xmlns:a16="http://schemas.microsoft.com/office/drawing/2014/main" id="{60AC01CB-D690-47B6-9765-B1348A5C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266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Reviewer</a:t>
            </a:r>
          </a:p>
        </p:txBody>
      </p:sp>
      <p:sp>
        <p:nvSpPr>
          <p:cNvPr id="17" name="ReviewVerdict&#10;风险与归因检查">
            <a:extLst xmlns:a="http://schemas.openxmlformats.org/drawingml/2006/main">
              <a:ext uri="{FF2B5EF4-FFF2-40B4-BE49-F238E27FC236}">
                <a16:creationId xmlns:a16="http://schemas.microsoft.com/office/drawing/2014/main" id="{54AA59B2-72E1-4E5A-BA6F-21FE3D09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647950"/>
            <a:ext cx="285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ReviewVerdict</a:t>
            </a:r>
          </a:p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风险与归因检查</a:t>
            </a:r>
          </a:p>
        </p:txBody>
      </p:sp>
      <p:cxnSp>
        <p:nvCxnSpPr>
          <p:cNvPr id="48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952875" y="27384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47151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477125" y="27384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47151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1001375" y="27384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47151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68D512-AE58-46BE-8D07-6DF15122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14800"/>
            <a:ext cx="1381125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95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22" name="统一 Harness 边界">
            <a:extLst xmlns:a="http://schemas.openxmlformats.org/drawingml/2006/main">
              <a:ext uri="{FF2B5EF4-FFF2-40B4-BE49-F238E27FC236}">
                <a16:creationId xmlns:a16="http://schemas.microsoft.com/office/drawing/2014/main" id="{CF890CCC-EF80-4828-98F5-87163E16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29100"/>
            <a:ext cx="1343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统一 Harness 边界</a:t>
            </a:r>
          </a:p>
        </p:txBody>
      </p:sp>
      <p:sp>
        <p:nvSpPr>
          <p:cNvPr id="23" name="RoleTask、独立 session、上下文版本、tool capa">
            <a:extLst xmlns:a="http://schemas.openxmlformats.org/drawingml/2006/main">
              <a:ext uri="{FF2B5EF4-FFF2-40B4-BE49-F238E27FC236}">
                <a16:creationId xmlns:a16="http://schemas.microsoft.com/office/drawing/2014/main" id="{AAC07745-4D13-465F-9590-066DCB50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10100"/>
            <a:ext cx="13430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RoleTask、独立 session、上下文版本、tool capability、结构化事件、可恢复运行句柄</a:t>
            </a:r>
          </a:p>
        </p:txBody>
      </p:sp>
      <p:cxnSp>
        <p:nvCxnSpPr>
          <p:cNvPr id="54" name=""/>
          <p:cNvCxnSpPr>
            <a:stCxn xmlns:a="http://schemas.openxmlformats.org/drawingml/2006/main" id="21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2333625" y="3324225"/>
            <a:ext cx="5286375" cy="7905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347151"/>
            </a:solidFill>
            <a:prstDash val="dash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21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H="1" flipV="1">
            <a:off x="5857875" y="3324225"/>
            <a:ext cx="1762125" cy="7905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347151"/>
            </a:solidFill>
            <a:prstDash val="dash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21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7620000" y="3324225"/>
            <a:ext cx="1762125" cy="7905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347151"/>
            </a:solidFill>
            <a:prstDash val="dash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21" idx="0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V="1">
            <a:off x="7620000" y="3324225"/>
            <a:ext cx="5286375" cy="7905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347151"/>
            </a:solidFill>
            <a:prstDash val="dash"/>
            <a:tailEnd type="triangle" w="sm" len="sm"/>
          </a:ln>
        </p:spPr>
      </p:cxnSp>
      <p:sp>
        <p:nvSpPr>
          <p:cNvPr id="28" name="任务 DAG：依赖、join、重试与预算&#10;Semantic Route">
            <a:extLst xmlns:a="http://schemas.openxmlformats.org/drawingml/2006/main">
              <a:ext uri="{FF2B5EF4-FFF2-40B4-BE49-F238E27FC236}">
                <a16:creationId xmlns:a16="http://schemas.microsoft.com/office/drawing/2014/main" id="{5FA74ADF-11F4-42AC-BE79-B71A80E7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676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任务 DAG：依赖、join、重试与预算</a:t>
            </a:r>
          </a:p>
          <a:p xmlns:a="http://schemas.openxmlformats.org/drawingml/2006/main">
            <a:pPr algn="l">
              <a:def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Semantic Router：模型 / 能力选择</a:t>
            </a:r>
          </a:p>
        </p:txBody>
      </p:sp>
      <p:sp>
        <p:nvSpPr>
          <p:cNvPr id="29" name="传给推理层：program / session / agent&#10;父子阻">
            <a:extLst xmlns:a="http://schemas.openxmlformats.org/drawingml/2006/main">
              <a:ext uri="{FF2B5EF4-FFF2-40B4-BE49-F238E27FC236}">
                <a16:creationId xmlns:a16="http://schemas.microsoft.com/office/drawing/2014/main" id="{D5196372-3725-4D91-8F0A-1FD148EA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886450"/>
            <a:ext cx="6438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传给推理层：program / session / agent</a:t>
            </a:r>
          </a:p>
          <a:p xmlns:a="http://schemas.openxmlformats.org/drawingml/2006/main">
            <a:pPr algn="l">
              <a:defRPr sz="187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父子阻塞关系、request_id、expected_resume</a:t>
            </a:r>
          </a:p>
        </p:txBody>
      </p:sp>
      <p:sp>
        <p:nvSpPr>
          <p:cNvPr id="30" name="单一状态机所有者：Controller。适配器报告事实，不直接晋升候选">
            <a:extLst xmlns:a="http://schemas.openxmlformats.org/drawingml/2006/main">
              <a:ext uri="{FF2B5EF4-FFF2-40B4-BE49-F238E27FC236}">
                <a16:creationId xmlns:a16="http://schemas.microsoft.com/office/drawing/2014/main" id="{1630CF79-25B9-4812-AE8A-6F04D7E1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72350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单一状态机所有者：Controller。适配器报告事实，不直接晋升候选。</a:t>
            </a:r>
          </a:p>
        </p:txBody>
      </p:sp>
    </p:spTree>
    <p:extLst>
      <p:ext uri="{BB962C8B-B14F-4D97-AF65-F5344CB8AC3E}">
        <p14:creationId xmlns:p14="http://schemas.microsoft.com/office/powerpoint/2010/main" val="15709294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十步闭环与失败返回路径">
            <a:extLst xmlns:a="http://schemas.openxmlformats.org/drawingml/2006/main">
              <a:ext uri="{FF2B5EF4-FFF2-40B4-BE49-F238E27FC236}">
                <a16:creationId xmlns:a16="http://schemas.microsoft.com/office/drawing/2014/main" id="{9130C708-B9C8-48DB-AB1D-E7869D54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十步闭环与失败返回路径</a:t>
            </a:r>
          </a:p>
        </p:txBody>
      </p:sp>
      <p:sp>
        <p:nvSpPr>
          <p:cNvPr id="2" name="每一步有主责、产物与明确的版本语义">
            <a:extLst xmlns:a="http://schemas.openxmlformats.org/drawingml/2006/main">
              <a:ext uri="{FF2B5EF4-FFF2-40B4-BE49-F238E27FC236}">
                <a16:creationId xmlns:a16="http://schemas.microsoft.com/office/drawing/2014/main" id="{26E6D803-BE73-4395-9B4D-E7A239AD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398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每一步有主责、产物与明确的版本语义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6058F-9F08-4E4B-8110-F0FFB684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4020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4" name="AgentInfer RSI  /  离线脚手架与目标架构  /  2">
            <a:extLst xmlns:a="http://schemas.openxmlformats.org/drawingml/2006/main">
              <a:ext uri="{FF2B5EF4-FFF2-40B4-BE49-F238E27FC236}">
                <a16:creationId xmlns:a16="http://schemas.microsoft.com/office/drawing/2014/main" id="{A3D6013F-DFD6-4C0E-A393-60EC1D20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581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AgentInfer RSI  /  离线脚手架与目标架构  /  2026-09-21</a:t>
            </a:r>
          </a:p>
        </p:txBody>
      </p:sp>
      <p:sp>
        <p:nvSpPr>
          <p:cNvPr id="5" name="06">
            <a:extLst xmlns:a="http://schemas.openxmlformats.org/drawingml/2006/main">
              <a:ext uri="{FF2B5EF4-FFF2-40B4-BE49-F238E27FC236}">
                <a16:creationId xmlns:a16="http://schemas.microsoft.com/office/drawing/2014/main" id="{26E7E960-1431-4AAE-AC05-C2D26E68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295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FB4B6-4F11-4406-9310-7D5C1599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0275"/>
            <a:ext cx="2571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7" name="① 基线">
            <a:extLst xmlns:a="http://schemas.openxmlformats.org/drawingml/2006/main">
              <a:ext uri="{FF2B5EF4-FFF2-40B4-BE49-F238E27FC236}">
                <a16:creationId xmlns:a16="http://schemas.microsoft.com/office/drawing/2014/main" id="{39A6B35F-F8A9-4FC5-B5C1-EFB4BCC3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145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① 基线</a:t>
            </a:r>
          </a:p>
        </p:txBody>
      </p:sp>
      <p:sp>
        <p:nvSpPr>
          <p:cNvPr id="8" name="冻结版本 / 负载">
            <a:extLst xmlns:a="http://schemas.openxmlformats.org/drawingml/2006/main">
              <a:ext uri="{FF2B5EF4-FFF2-40B4-BE49-F238E27FC236}">
                <a16:creationId xmlns:a16="http://schemas.microsoft.com/office/drawing/2014/main" id="{51EC3E5E-15A3-474F-927F-3F984B20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95575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冻结版本 / 负载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1007B-C4D9-4801-9183-DE82289A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00275"/>
            <a:ext cx="2571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10" name="② 诊断">
            <a:extLst xmlns:a="http://schemas.openxmlformats.org/drawingml/2006/main">
              <a:ext uri="{FF2B5EF4-FFF2-40B4-BE49-F238E27FC236}">
                <a16:creationId xmlns:a16="http://schemas.microsoft.com/office/drawing/2014/main" id="{1DCECF51-4456-4302-BB51-4077DCEB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145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② 诊断</a:t>
            </a:r>
          </a:p>
        </p:txBody>
      </p:sp>
      <p:sp>
        <p:nvSpPr>
          <p:cNvPr id="11" name="BottleneckReport">
            <a:extLst xmlns:a="http://schemas.openxmlformats.org/drawingml/2006/main">
              <a:ext uri="{FF2B5EF4-FFF2-40B4-BE49-F238E27FC236}">
                <a16:creationId xmlns:a16="http://schemas.microsoft.com/office/drawing/2014/main" id="{CFE20E41-2678-446C-996A-2B97712C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95575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BottleneckReport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3AAE0-E099-4443-98C2-DACBAA89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00275"/>
            <a:ext cx="2571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13" name="③ 假设">
            <a:extLst xmlns:a="http://schemas.openxmlformats.org/drawingml/2006/main">
              <a:ext uri="{FF2B5EF4-FFF2-40B4-BE49-F238E27FC236}">
                <a16:creationId xmlns:a16="http://schemas.microsoft.com/office/drawing/2014/main" id="{63705EB6-044B-4158-AEA2-90F149AA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145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③ 假设</a:t>
            </a:r>
          </a:p>
        </p:txBody>
      </p:sp>
      <p:sp>
        <p:nvSpPr>
          <p:cNvPr id="14" name="ExperimentSpec">
            <a:extLst xmlns:a="http://schemas.openxmlformats.org/drawingml/2006/main">
              <a:ext uri="{FF2B5EF4-FFF2-40B4-BE49-F238E27FC236}">
                <a16:creationId xmlns:a16="http://schemas.microsoft.com/office/drawing/2014/main" id="{16B43C51-1B5B-4BFF-9196-537A6501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95575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ExperimentSpec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3531FE-8F81-4C74-B508-5F919B56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00275"/>
            <a:ext cx="2571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16" name="④ 实现审阅">
            <a:extLst xmlns:a="http://schemas.openxmlformats.org/drawingml/2006/main">
              <a:ext uri="{FF2B5EF4-FFF2-40B4-BE49-F238E27FC236}">
                <a16:creationId xmlns:a16="http://schemas.microsoft.com/office/drawing/2014/main" id="{0D441D9F-CE9C-4D1B-8BB9-FD61098C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145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④ 实现审阅</a:t>
            </a:r>
          </a:p>
        </p:txBody>
      </p:sp>
      <p:sp>
        <p:nvSpPr>
          <p:cNvPr id="17" name="候选 / ReviewVerdict">
            <a:extLst xmlns:a="http://schemas.openxmlformats.org/drawingml/2006/main">
              <a:ext uri="{FF2B5EF4-FFF2-40B4-BE49-F238E27FC236}">
                <a16:creationId xmlns:a16="http://schemas.microsoft.com/office/drawing/2014/main" id="{5EABD1CB-8D37-4C08-A97E-E6FFE82C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95575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候选 / ReviewVerdict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EF51CC-4E83-49F4-B3B7-2205D3CF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2200275"/>
            <a:ext cx="2571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19" name="⑤ 实验">
            <a:extLst xmlns:a="http://schemas.openxmlformats.org/drawingml/2006/main">
              <a:ext uri="{FF2B5EF4-FFF2-40B4-BE49-F238E27FC236}">
                <a16:creationId xmlns:a16="http://schemas.microsoft.com/office/drawing/2014/main" id="{E7DE96F4-24E1-44E7-867F-098E6A29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23145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⑤ 实验</a:t>
            </a:r>
          </a:p>
        </p:txBody>
      </p:sp>
      <p:sp>
        <p:nvSpPr>
          <p:cNvPr id="20" name="隔离 trial">
            <a:extLst xmlns:a="http://schemas.openxmlformats.org/drawingml/2006/main">
              <a:ext uri="{FF2B5EF4-FFF2-40B4-BE49-F238E27FC236}">
                <a16:creationId xmlns:a16="http://schemas.microsoft.com/office/drawing/2014/main" id="{A94C64B0-1F1A-4C19-ABEE-A9DCABC5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2695575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隔离 trial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A322B6-ED2E-43E2-B54F-0BAF776B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4391025"/>
            <a:ext cx="2571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22" name="⑥ 证据">
            <a:extLst xmlns:a="http://schemas.openxmlformats.org/drawingml/2006/main">
              <a:ext uri="{FF2B5EF4-FFF2-40B4-BE49-F238E27FC236}">
                <a16:creationId xmlns:a16="http://schemas.microsoft.com/office/drawing/2014/main" id="{7AB324A2-6C2D-4BA6-9017-7DB634A2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45053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⑥ 证据</a:t>
            </a:r>
          </a:p>
        </p:txBody>
      </p:sp>
      <p:sp>
        <p:nvSpPr>
          <p:cNvPr id="23" name="EvidencePacket">
            <a:extLst xmlns:a="http://schemas.openxmlformats.org/drawingml/2006/main">
              <a:ext uri="{FF2B5EF4-FFF2-40B4-BE49-F238E27FC236}">
                <a16:creationId xmlns:a16="http://schemas.microsoft.com/office/drawing/2014/main" id="{8D4AA2C8-B799-4ECA-A6D4-195AF81B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4886325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EvidencePacket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D13380-9BCA-4E2F-8AF6-FFEDD28F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91025"/>
            <a:ext cx="2571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95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25" name="⑦ 裁决">
            <a:extLst xmlns:a="http://schemas.openxmlformats.org/drawingml/2006/main">
              <a:ext uri="{FF2B5EF4-FFF2-40B4-BE49-F238E27FC236}">
                <a16:creationId xmlns:a16="http://schemas.microsoft.com/office/drawing/2014/main" id="{6BB57B14-7AAF-4A70-B2F6-1206A5AA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5053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⑦ 裁决</a:t>
            </a:r>
          </a:p>
        </p:txBody>
      </p:sp>
      <p:sp>
        <p:nvSpPr>
          <p:cNvPr id="26" name="PASS / FAIL / 不充分">
            <a:extLst xmlns:a="http://schemas.openxmlformats.org/drawingml/2006/main">
              <a:ext uri="{FF2B5EF4-FFF2-40B4-BE49-F238E27FC236}">
                <a16:creationId xmlns:a16="http://schemas.microsoft.com/office/drawing/2014/main" id="{BF8759FE-E2C5-4001-AA8B-31446A4B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886325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PASS / FAIL / 不充分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5EE42F-1ECC-4732-8BB3-9F9506A9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91025"/>
            <a:ext cx="2571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28" name="⑧ 激活恢复">
            <a:extLst xmlns:a="http://schemas.openxmlformats.org/drawingml/2006/main">
              <a:ext uri="{FF2B5EF4-FFF2-40B4-BE49-F238E27FC236}">
                <a16:creationId xmlns:a16="http://schemas.microsoft.com/office/drawing/2014/main" id="{CF1F8885-422D-4C32-B41C-6FF87E35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053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⑧ 激活恢复</a:t>
            </a:r>
          </a:p>
        </p:txBody>
      </p:sp>
      <p:sp>
        <p:nvSpPr>
          <p:cNvPr id="29" name="active / 恢复记录">
            <a:extLst xmlns:a="http://schemas.openxmlformats.org/drawingml/2006/main">
              <a:ext uri="{FF2B5EF4-FFF2-40B4-BE49-F238E27FC236}">
                <a16:creationId xmlns:a16="http://schemas.microsoft.com/office/drawing/2014/main" id="{CD9767E9-2A4F-4399-A38A-AA2C5EF1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86325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active / 恢复记录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7CB92B-6C5C-42FC-80D7-195E9F8C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2571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31" name="⑨ 观察">
            <a:extLst xmlns:a="http://schemas.openxmlformats.org/drawingml/2006/main">
              <a:ext uri="{FF2B5EF4-FFF2-40B4-BE49-F238E27FC236}">
                <a16:creationId xmlns:a16="http://schemas.microsoft.com/office/drawing/2014/main" id="{F0A5D584-7311-4273-813E-08A20326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053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⑨ 观察</a:t>
            </a:r>
          </a:p>
        </p:txBody>
      </p:sp>
      <p:sp>
        <p:nvSpPr>
          <p:cNvPr id="32" name="SoakResult">
            <a:extLst xmlns:a="http://schemas.openxmlformats.org/drawingml/2006/main">
              <a:ext uri="{FF2B5EF4-FFF2-40B4-BE49-F238E27FC236}">
                <a16:creationId xmlns:a16="http://schemas.microsoft.com/office/drawing/2014/main" id="{1FD42059-A1AC-4838-8435-6DC02DC2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86325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SoakResult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FDE29D-735B-4D5A-9789-E3503FDE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91025"/>
            <a:ext cx="2571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34" name="⑩ 知识归档">
            <a:extLst xmlns:a="http://schemas.openxmlformats.org/drawingml/2006/main">
              <a:ext uri="{FF2B5EF4-FFF2-40B4-BE49-F238E27FC236}">
                <a16:creationId xmlns:a16="http://schemas.microsoft.com/office/drawing/2014/main" id="{449D6A23-244D-4F18-BD9A-F952F9C6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053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⑩ 知识归档</a:t>
            </a:r>
          </a:p>
        </p:txBody>
      </p:sp>
      <p:sp>
        <p:nvSpPr>
          <p:cNvPr id="35" name="scope / 失效条件">
            <a:extLst xmlns:a="http://schemas.openxmlformats.org/drawingml/2006/main">
              <a:ext uri="{FF2B5EF4-FFF2-40B4-BE49-F238E27FC236}">
                <a16:creationId xmlns:a16="http://schemas.microsoft.com/office/drawing/2014/main" id="{A0AC3871-4494-4BDA-8BB9-48CBD5AC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6325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scope / 失效条件</a:t>
            </a:r>
          </a:p>
        </p:txBody>
      </p:sp>
      <p:cxnSp>
        <p:nvCxnSpPr>
          <p:cNvPr id="100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14700" y="28670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47151"/>
            </a:solidFill>
            <a:prstDash val="solid"/>
            <a:tailEnd type="triangle" w="sm" len="sm"/>
          </a:ln>
        </p:spPr>
      </p:cxnSp>
      <p:cxnSp>
        <p:nvCxnSpPr>
          <p:cNvPr id="101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096000" y="28670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47151"/>
            </a:solidFill>
            <a:prstDash val="solid"/>
            <a:tailEnd type="triangle" w="sm" len="sm"/>
          </a:ln>
        </p:spPr>
      </p:cxnSp>
      <p:cxnSp>
        <p:nvCxnSpPr>
          <p:cNvPr id="102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877300" y="28670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47151"/>
            </a:solidFill>
            <a:prstDash val="solid"/>
            <a:tailEnd type="triangle" w="sm" len="sm"/>
          </a:ln>
        </p:spPr>
      </p:cxnSp>
      <p:cxnSp>
        <p:nvCxnSpPr>
          <p:cNvPr id="103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1658600" y="28670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47151"/>
            </a:solidFill>
            <a:prstDash val="solid"/>
            <a:tailEnd type="triangle" w="sm" len="sm"/>
          </a:ln>
        </p:spPr>
      </p:cxnSp>
      <p:cxnSp>
        <p:nvCxnSpPr>
          <p:cNvPr id="104" name=""/>
          <p:cNvCxnSpPr>
            <a:stCxn xmlns:a="http://schemas.openxmlformats.org/drawingml/2006/main" id="18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13154025" y="3533775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47151"/>
            </a:solidFill>
            <a:prstDash val="solid"/>
            <a:tailEnd type="triangle" w="sm" len="sm"/>
          </a:ln>
        </p:spPr>
      </p:cxnSp>
      <p:cxnSp>
        <p:nvCxnSpPr>
          <p:cNvPr id="105" name=""/>
          <p:cNvCxnSpPr>
            <a:stCxn xmlns:a="http://schemas.openxmlformats.org/drawingml/2006/main" id="21" idx="1"/>
            <a:endCxn xmlns:a="http://schemas.openxmlformats.org/drawingml/2006/main" id="24" idx="3"/>
          </p:cNvCxnSpPr>
          <p:nvPr/>
        </p:nvCxnSpPr>
        <p:spPr>
          <a:xfrm xmlns:a="http://schemas.openxmlformats.org/drawingml/2006/main" flipH="1">
            <a:off x="11658600" y="50577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47151"/>
            </a:solidFill>
            <a:prstDash val="solid"/>
            <a:tail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24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>
            <a:off x="8877300" y="50577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47151"/>
            </a:solidFill>
            <a:prstDash val="solid"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27" idx="1"/>
            <a:endCxn xmlns:a="http://schemas.openxmlformats.org/drawingml/2006/main" id="30" idx="3"/>
          </p:cNvCxnSpPr>
          <p:nvPr/>
        </p:nvCxnSpPr>
        <p:spPr>
          <a:xfrm xmlns:a="http://schemas.openxmlformats.org/drawingml/2006/main" flipH="1">
            <a:off x="6096000" y="50577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47151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30" idx="1"/>
            <a:endCxn xmlns:a="http://schemas.openxmlformats.org/drawingml/2006/main" id="33" idx="3"/>
          </p:cNvCxnSpPr>
          <p:nvPr/>
        </p:nvCxnSpPr>
        <p:spPr>
          <a:xfrm xmlns:a="http://schemas.openxmlformats.org/drawingml/2006/main" flipH="1">
            <a:off x="3314700" y="50577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47151"/>
            </a:solidFill>
            <a:prstDash val="solid"/>
            <a:tail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95F355-56E8-4778-A81B-F03E20CA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8" y="50530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5687F0-B001-4CA4-A2C8-8700164E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8" y="28622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33" idx="1"/>
            <a:endCxn xmlns:a="http://schemas.openxmlformats.org/drawingml/2006/main" id="45" idx="3"/>
          </p:cNvCxnSpPr>
          <p:nvPr/>
        </p:nvCxnSpPr>
        <p:spPr>
          <a:xfrm xmlns:a="http://schemas.openxmlformats.org/drawingml/2006/main" flipH="1">
            <a:off x="385763" y="5057775"/>
            <a:ext cx="357187" cy="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47151"/>
            </a:solidFill>
            <a:prstDash val="dash"/>
            <a:tailEnd type="none" w="sm" len="sm"/>
          </a:ln>
        </p:spPr>
      </p:cxnSp>
      <p:cxnSp>
        <p:nvCxnSpPr>
          <p:cNvPr id="112" name=""/>
          <p:cNvCxnSpPr>
            <a:stCxn xmlns:a="http://schemas.openxmlformats.org/drawingml/2006/main" id="45" idx="0"/>
            <a:endCxn xmlns:a="http://schemas.openxmlformats.org/drawingml/2006/main" id="46" idx="2"/>
          </p:cNvCxnSpPr>
          <p:nvPr/>
        </p:nvCxnSpPr>
        <p:spPr>
          <a:xfrm xmlns:a="http://schemas.openxmlformats.org/drawingml/2006/main" flipV="1">
            <a:off x="381001" y="2871788"/>
            <a:ext cx="0" cy="2181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47151"/>
            </a:solidFill>
            <a:prstDash val="dash"/>
            <a:tailEnd type="none" w="sm" len="sm"/>
          </a:ln>
        </p:spPr>
      </p:cxnSp>
      <p:cxnSp>
        <p:nvCxnSpPr>
          <p:cNvPr id="113" name=""/>
          <p:cNvCxnSpPr>
            <a:stCxn xmlns:a="http://schemas.openxmlformats.org/drawingml/2006/main" id="46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85763" y="2867025"/>
            <a:ext cx="35718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47151"/>
            </a:solidFill>
            <a:prstDash val="dash"/>
            <a:tailEnd type="triangle" w="sm" len="sm"/>
          </a:ln>
        </p:spPr>
      </p:cxnSp>
      <p:sp>
        <p:nvSpPr>
          <p:cNvPr id="50" name="下一轮">
            <a:extLst xmlns:a="http://schemas.openxmlformats.org/drawingml/2006/main">
              <a:ext uri="{FF2B5EF4-FFF2-40B4-BE49-F238E27FC236}">
                <a16:creationId xmlns:a16="http://schemas.microsoft.com/office/drawing/2014/main" id="{2102A784-AC14-4CBC-A26B-3D74654F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719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下一轮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B0AE4D6-CF08-4514-B91A-66735EC9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963" y="39290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A2C83E9-1BD2-4AB0-96FD-C97E86B1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6663" y="39290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7" name=""/>
          <p:cNvCxnSpPr>
            <a:stCxn xmlns:a="http://schemas.openxmlformats.org/drawingml/2006/main" id="24" idx="0"/>
            <a:endCxn xmlns:a="http://schemas.openxmlformats.org/drawingml/2006/main" id="51" idx="2"/>
          </p:cNvCxnSpPr>
          <p:nvPr/>
        </p:nvCxnSpPr>
        <p:spPr>
          <a:xfrm xmlns:a="http://schemas.openxmlformats.org/drawingml/2006/main" flipV="1">
            <a:off x="10372725" y="3938588"/>
            <a:ext cx="0" cy="45243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46525"/>
            </a:solidFill>
            <a:prstDash val="dash"/>
            <a:tailEnd type="none" w="sm" len="sm"/>
          </a:ln>
        </p:spPr>
      </p:cxnSp>
      <p:cxnSp>
        <p:nvCxnSpPr>
          <p:cNvPr id="118" name=""/>
          <p:cNvCxnSpPr>
            <a:stCxn xmlns:a="http://schemas.openxmlformats.org/drawingml/2006/main" id="51" idx="1"/>
            <a:endCxn xmlns:a="http://schemas.openxmlformats.org/drawingml/2006/main" id="52" idx="3"/>
          </p:cNvCxnSpPr>
          <p:nvPr/>
        </p:nvCxnSpPr>
        <p:spPr>
          <a:xfrm xmlns:a="http://schemas.openxmlformats.org/drawingml/2006/main" flipH="1">
            <a:off x="7596188" y="3933826"/>
            <a:ext cx="2771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46525"/>
            </a:solidFill>
            <a:prstDash val="dash"/>
            <a:tailEnd type="none" w="sm" len="sm"/>
          </a:ln>
        </p:spPr>
      </p:cxnSp>
      <p:cxnSp>
        <p:nvCxnSpPr>
          <p:cNvPr id="119" name=""/>
          <p:cNvCxnSpPr>
            <a:stCxn xmlns:a="http://schemas.openxmlformats.org/drawingml/2006/main" id="52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H="1" flipV="1">
            <a:off x="7591425" y="3533775"/>
            <a:ext cx="1" cy="3952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46525"/>
            </a:solidFill>
            <a:prstDash val="dash"/>
            <a:tailEnd type="triangle" w="sm" len="sm"/>
          </a:ln>
        </p:spPr>
      </p:cxnSp>
      <p:sp>
        <p:nvSpPr>
          <p:cNvPr id="56" name="重试">
            <a:extLst xmlns:a="http://schemas.openxmlformats.org/drawingml/2006/main">
              <a:ext uri="{FF2B5EF4-FFF2-40B4-BE49-F238E27FC236}">
                <a16:creationId xmlns:a16="http://schemas.microsoft.com/office/drawing/2014/main" id="{4C46547F-4CA7-4A68-8133-F7A9D268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6004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46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46525"/>
                </a:solidFill>
                <a:latin typeface="Microsoft YaHei"/>
                <a:ea typeface="Microsoft YaHei"/>
                <a:cs typeface="Microsoft YaHei"/>
              </a:rPr>
              <a:t>重试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AD30E80-46D3-4B4B-86EA-E3949AE8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363" y="60245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BAB82D2-32CB-4558-8539-82D2B605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6663" y="60245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" name=""/>
          <p:cNvCxnSpPr>
            <a:stCxn xmlns:a="http://schemas.openxmlformats.org/drawingml/2006/main" id="30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4810125" y="5724525"/>
            <a:ext cx="0" cy="3000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5040"/>
            </a:solidFill>
            <a:prstDash val="dash"/>
            <a:tailEnd type="none" w="sm" len="sm"/>
          </a:ln>
        </p:spPr>
      </p:cxnSp>
      <p:cxnSp>
        <p:nvCxnSpPr>
          <p:cNvPr id="124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4814888" y="6029326"/>
            <a:ext cx="2771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5040"/>
            </a:solidFill>
            <a:prstDash val="dash"/>
            <a:tailEnd type="none" w="sm" len="sm"/>
          </a:ln>
        </p:spPr>
      </p:cxnSp>
      <p:cxnSp>
        <p:nvCxnSpPr>
          <p:cNvPr id="125" name=""/>
          <p:cNvCxnSpPr>
            <a:stCxn xmlns:a="http://schemas.openxmlformats.org/drawingml/2006/main" id="58" idx="0"/>
            <a:endCxn xmlns:a="http://schemas.openxmlformats.org/drawingml/2006/main" id="27" idx="2"/>
          </p:cNvCxnSpPr>
          <p:nvPr/>
        </p:nvCxnSpPr>
        <p:spPr>
          <a:xfrm xmlns:a="http://schemas.openxmlformats.org/drawingml/2006/main" flipH="1" flipV="1">
            <a:off x="7591425" y="5724525"/>
            <a:ext cx="1" cy="3000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5040"/>
            </a:solidFill>
            <a:prstDash val="dash"/>
            <a:tailEnd type="triangle" w="sm" len="sm"/>
          </a:ln>
        </p:spPr>
      </p:cxnSp>
      <p:sp>
        <p:nvSpPr>
          <p:cNvPr id="62" name="观察失败 → 恢复">
            <a:extLst xmlns:a="http://schemas.openxmlformats.org/drawingml/2006/main">
              <a:ext uri="{FF2B5EF4-FFF2-40B4-BE49-F238E27FC236}">
                <a16:creationId xmlns:a16="http://schemas.microsoft.com/office/drawing/2014/main" id="{BB7DAF5F-AB1F-4E6B-84A8-E5908F6C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743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95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A95040"/>
                </a:solidFill>
                <a:latin typeface="Microsoft YaHei"/>
                <a:ea typeface="Microsoft YaHei"/>
                <a:cs typeface="Microsoft YaHei"/>
              </a:rPr>
              <a:t>观察失败 → 恢复</a:t>
            </a:r>
          </a:p>
        </p:txBody>
      </p:sp>
      <p:sp>
        <p:nvSpPr>
          <p:cNvPr id="63" name="当前脚手架：⑦ FAIL / INCONCLUSIVE 重试均返回③，">
            <a:extLst xmlns:a="http://schemas.openxmlformats.org/drawingml/2006/main">
              <a:ext uri="{FF2B5EF4-FFF2-40B4-BE49-F238E27FC236}">
                <a16:creationId xmlns:a16="http://schemas.microsoft.com/office/drawing/2014/main" id="{55E1E6ED-1E8B-4CF6-AE32-B795C83F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81750"/>
            <a:ext cx="1360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当前脚手架：⑦ FAIL / INCONCLUSIVE 重试均返回③，重新冻结后进入⑤。</a:t>
            </a:r>
          </a:p>
        </p:txBody>
      </p:sp>
      <p:sp>
        <p:nvSpPr>
          <p:cNvPr id="64" name="目标增量重测可直达⑤；⑨异常经⑧恢复。⑩归档后可开始下一轮①。">
            <a:extLst xmlns:a="http://schemas.openxmlformats.org/drawingml/2006/main">
              <a:ext uri="{FF2B5EF4-FFF2-40B4-BE49-F238E27FC236}">
                <a16:creationId xmlns:a16="http://schemas.microsoft.com/office/drawing/2014/main" id="{2DB86693-ABBD-4C7E-A719-1706987E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67550"/>
            <a:ext cx="13601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目标增量重测可直达⑤；⑨异常经⑧恢复。⑩归档后可开始下一轮①。</a:t>
            </a:r>
          </a:p>
        </p:txBody>
      </p:sp>
    </p:spTree>
    <p:extLst>
      <p:ext uri="{BB962C8B-B14F-4D97-AF65-F5344CB8AC3E}">
        <p14:creationId xmlns:p14="http://schemas.microsoft.com/office/powerpoint/2010/main" val="12550797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稠密反馈与知识回路">
            <a:extLst xmlns:a="http://schemas.openxmlformats.org/drawingml/2006/main">
              <a:ext uri="{FF2B5EF4-FFF2-40B4-BE49-F238E27FC236}">
                <a16:creationId xmlns:a16="http://schemas.microsoft.com/office/drawing/2014/main" id="{CCEFBF58-8810-416F-8EE9-D3545162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稠密反馈与知识回路</a:t>
            </a:r>
          </a:p>
        </p:txBody>
      </p:sp>
      <p:sp>
        <p:nvSpPr>
          <p:cNvPr id="2" name="局部迭代缩短反馈距离，集成与 E2E 保留最终约束">
            <a:extLst xmlns:a="http://schemas.openxmlformats.org/drawingml/2006/main">
              <a:ext uri="{FF2B5EF4-FFF2-40B4-BE49-F238E27FC236}">
                <a16:creationId xmlns:a16="http://schemas.microsoft.com/office/drawing/2014/main" id="{1EB954B7-4850-4D0A-A4FB-57557AE2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398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局部迭代缩短反馈距离，集成与 E2E 保留最终约束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55DD1-E11E-4387-8266-47A138A5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4020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4" name="AgentInfer RSI  /  离线脚手架与目标架构  /  2">
            <a:extLst xmlns:a="http://schemas.openxmlformats.org/drawingml/2006/main">
              <a:ext uri="{FF2B5EF4-FFF2-40B4-BE49-F238E27FC236}">
                <a16:creationId xmlns:a16="http://schemas.microsoft.com/office/drawing/2014/main" id="{48EF9A04-3BF5-4E7F-970A-4B4C6CF8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581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AgentInfer RSI  /  离线脚手架与目标架构  /  2026-09-21</a:t>
            </a:r>
          </a:p>
        </p:txBody>
      </p:sp>
      <p:sp>
        <p:nvSpPr>
          <p:cNvPr id="5" name="07">
            <a:extLst xmlns:a="http://schemas.openxmlformats.org/drawingml/2006/main">
              <a:ext uri="{FF2B5EF4-FFF2-40B4-BE49-F238E27FC236}">
                <a16:creationId xmlns:a16="http://schemas.microsoft.com/office/drawing/2014/main" id="{CA619A74-29A6-418C-B264-A93A8CFF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295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01D44-880C-45B6-BE5A-997B416B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857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95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7" name="③ 可证伪假设">
            <a:extLst xmlns:a="http://schemas.openxmlformats.org/drawingml/2006/main">
              <a:ext uri="{FF2B5EF4-FFF2-40B4-BE49-F238E27FC236}">
                <a16:creationId xmlns:a16="http://schemas.microsoft.com/office/drawing/2014/main" id="{2A954995-9EDD-4A01-955C-1A9BE83A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③ 可证伪假设</a:t>
            </a:r>
          </a:p>
        </p:txBody>
      </p:sp>
      <p:sp>
        <p:nvSpPr>
          <p:cNvPr id="8" name="机制预测 / 否定条件">
            <a:extLst xmlns:a="http://schemas.openxmlformats.org/drawingml/2006/main">
              <a:ext uri="{FF2B5EF4-FFF2-40B4-BE49-F238E27FC236}">
                <a16:creationId xmlns:a16="http://schemas.microsoft.com/office/drawing/2014/main" id="{827DE541-EAE2-41F3-8D0C-9C94378D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2552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机制预测 / 否定条件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9FB80-0151-4790-A77C-0904B787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47875"/>
            <a:ext cx="60483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10" name="④⑤ 局部探针与观测">
            <a:extLst xmlns:a="http://schemas.openxmlformats.org/drawingml/2006/main">
              <a:ext uri="{FF2B5EF4-FFF2-40B4-BE49-F238E27FC236}">
                <a16:creationId xmlns:a16="http://schemas.microsoft.com/office/drawing/2014/main" id="{E1071B10-82E7-4940-A788-5C35DF56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43125"/>
            <a:ext cx="5743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④⑤ 局部探针与观测</a:t>
            </a:r>
          </a:p>
        </p:txBody>
      </p:sp>
      <p:sp>
        <p:nvSpPr>
          <p:cNvPr id="11" name="参考 / 差分 / 受控干预 / 消融 + profile">
            <a:extLst xmlns:a="http://schemas.openxmlformats.org/drawingml/2006/main">
              <a:ext uri="{FF2B5EF4-FFF2-40B4-BE49-F238E27FC236}">
                <a16:creationId xmlns:a16="http://schemas.microsoft.com/office/drawing/2014/main" id="{30D5C889-860A-40FB-A178-2FAAF1E7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24125"/>
            <a:ext cx="57435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参考 / 差分 / 受控干预 / 消融 + profile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3B201-2BE6-4DC4-BD73-BEBDD11C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047875"/>
            <a:ext cx="38195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2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13" name="⑥ FeedbackRecord">
            <a:extLst xmlns:a="http://schemas.openxmlformats.org/drawingml/2006/main">
              <a:ext uri="{FF2B5EF4-FFF2-40B4-BE49-F238E27FC236}">
                <a16:creationId xmlns:a16="http://schemas.microsoft.com/office/drawing/2014/main" id="{420544FC-0FA6-4666-A14A-9CBB7350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2143125"/>
            <a:ext cx="3514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⑥ FeedbackRecord</a:t>
            </a:r>
          </a:p>
        </p:txBody>
      </p:sp>
      <p:sp>
        <p:nvSpPr>
          <p:cNvPr id="14" name="结果 / oracle / scope / evidence">
            <a:extLst xmlns:a="http://schemas.openxmlformats.org/drawingml/2006/main">
              <a:ext uri="{FF2B5EF4-FFF2-40B4-BE49-F238E27FC236}">
                <a16:creationId xmlns:a16="http://schemas.microsoft.com/office/drawing/2014/main" id="{EA4AE3D4-2603-4DF8-A9BC-C79B92DC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2524125"/>
            <a:ext cx="35147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结果 / oracle / scope /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77C4F9-348F-42E9-AB82-270FE2D8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43375"/>
            <a:ext cx="38195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16" name="④ 局部修正">
            <a:extLst xmlns:a="http://schemas.openxmlformats.org/drawingml/2006/main">
              <a:ext uri="{FF2B5EF4-FFF2-40B4-BE49-F238E27FC236}">
                <a16:creationId xmlns:a16="http://schemas.microsoft.com/office/drawing/2014/main" id="{2265531A-71FE-4102-BE15-4E60F4BB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238625"/>
            <a:ext cx="3514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④ 局部修正</a:t>
            </a:r>
          </a:p>
        </p:txBody>
      </p:sp>
      <p:sp>
        <p:nvSpPr>
          <p:cNvPr id="17" name="依据客观差异缩小搜索范围">
            <a:extLst xmlns:a="http://schemas.openxmlformats.org/drawingml/2006/main">
              <a:ext uri="{FF2B5EF4-FFF2-40B4-BE49-F238E27FC236}">
                <a16:creationId xmlns:a16="http://schemas.microsoft.com/office/drawing/2014/main" id="{7DE804AB-6D59-409A-B5E4-0E06A538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619625"/>
            <a:ext cx="3514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依据客观差异缩小搜索范围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59DDC4-A9F1-47C5-8C0B-0B0EE5F0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43375"/>
            <a:ext cx="43529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19" name="⑤ 集成与真实任务 E2E">
            <a:extLst xmlns:a="http://schemas.openxmlformats.org/drawingml/2006/main">
              <a:ext uri="{FF2B5EF4-FFF2-40B4-BE49-F238E27FC236}">
                <a16:creationId xmlns:a16="http://schemas.microsoft.com/office/drawing/2014/main" id="{4C09558F-4513-418A-914C-8B3F6EC1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386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⑤ 集成与真实任务 E2E</a:t>
            </a:r>
          </a:p>
        </p:txBody>
      </p:sp>
      <p:sp>
        <p:nvSpPr>
          <p:cNvPr id="20" name="固定环境下验收质量与性能">
            <a:extLst xmlns:a="http://schemas.openxmlformats.org/drawingml/2006/main">
              <a:ext uri="{FF2B5EF4-FFF2-40B4-BE49-F238E27FC236}">
                <a16:creationId xmlns:a16="http://schemas.microsoft.com/office/drawing/2014/main" id="{743F9818-38A0-4B69-9882-F71E34A8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19625"/>
            <a:ext cx="4048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固定环境下验收质量与性能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79E775-E0B2-4E4D-AC1E-22DA7F52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45529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F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22" name="⑦ 独立裁决">
            <a:extLst xmlns:a="http://schemas.openxmlformats.org/drawingml/2006/main">
              <a:ext uri="{FF2B5EF4-FFF2-40B4-BE49-F238E27FC236}">
                <a16:creationId xmlns:a16="http://schemas.microsoft.com/office/drawing/2014/main" id="{AB10A744-809D-415E-AB0B-B048F8EB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⑦ 独立裁决</a:t>
            </a:r>
          </a:p>
        </p:txBody>
      </p:sp>
      <p:sp>
        <p:nvSpPr>
          <p:cNvPr id="23" name="通过后进入⑧激活与⑨观察">
            <a:extLst xmlns:a="http://schemas.openxmlformats.org/drawingml/2006/main">
              <a:ext uri="{FF2B5EF4-FFF2-40B4-BE49-F238E27FC236}">
                <a16:creationId xmlns:a16="http://schemas.microsoft.com/office/drawing/2014/main" id="{81774A1B-6FAD-4427-A126-7105DEB8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4248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通过后进入⑧激活与⑨观察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21EDF8-7C27-433C-B8E9-4F219170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45529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2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25" name="⑩ 知识晋升 / 反例保留">
            <a:extLst xmlns:a="http://schemas.openxmlformats.org/drawingml/2006/main">
              <a:ext uri="{FF2B5EF4-FFF2-40B4-BE49-F238E27FC236}">
                <a16:creationId xmlns:a16="http://schemas.microsoft.com/office/drawing/2014/main" id="{5F13C2B6-EF28-41E1-894E-1F2610C6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05575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⑩ 知识晋升 / 反例保留</a:t>
            </a:r>
          </a:p>
        </p:txBody>
      </p:sp>
      <p:sp>
        <p:nvSpPr>
          <p:cNvPr id="26" name="证据齐全 + scope + 失效条件">
            <a:extLst xmlns:a="http://schemas.openxmlformats.org/drawingml/2006/main">
              <a:ext uri="{FF2B5EF4-FFF2-40B4-BE49-F238E27FC236}">
                <a16:creationId xmlns:a16="http://schemas.microsoft.com/office/drawing/2014/main" id="{A97BE5A7-9C9B-4C15-B447-22E518DA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86575"/>
            <a:ext cx="424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证据齐全 + scope + 失效条件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FE5019-78CB-4063-878D-A4F67D4F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10325"/>
            <a:ext cx="8820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95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28" name="下一轮①基线与③规划">
            <a:extLst xmlns:a="http://schemas.openxmlformats.org/drawingml/2006/main">
              <a:ext uri="{FF2B5EF4-FFF2-40B4-BE49-F238E27FC236}">
                <a16:creationId xmlns:a16="http://schemas.microsoft.com/office/drawing/2014/main" id="{03E2C1FC-27EF-42C0-8030-C5C47BFF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505575"/>
            <a:ext cx="851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下一轮①基线与③规划</a:t>
            </a:r>
          </a:p>
        </p:txBody>
      </p:sp>
      <p:sp>
        <p:nvSpPr>
          <p:cNvPr id="29" name="检索 system 契约、当前层知识与相邻依赖；记录引用版本">
            <a:extLst xmlns:a="http://schemas.openxmlformats.org/drawingml/2006/main">
              <a:ext uri="{FF2B5EF4-FFF2-40B4-BE49-F238E27FC236}">
                <a16:creationId xmlns:a16="http://schemas.microsoft.com/office/drawing/2014/main" id="{7AC3FEF6-76D3-491C-B5C7-1AC05AE8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886575"/>
            <a:ext cx="851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检索 system 契约、当前层知识与相邻依赖；记录引用版本</a:t>
            </a:r>
          </a:p>
        </p:txBody>
      </p:sp>
      <p:cxnSp>
        <p:nvCxnSpPr>
          <p:cNvPr id="70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467100" y="2643188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47151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0163175" y="2643188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47151"/>
            </a:solidFill>
            <a:prstDash val="soli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2720638" y="3238500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47151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15" idx="1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H="1">
            <a:off x="10163175" y="4691063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47151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18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5162550" y="4691063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47151"/>
            </a:solidFill>
            <a:prstDash val="soli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21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2886075" y="5238750"/>
            <a:ext cx="0" cy="11715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47151"/>
            </a:solidFill>
            <a:prstDash val="solid"/>
            <a:tail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5162550" y="6910388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47151"/>
            </a:solidFill>
            <a:prstDash val="solid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15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H="1" flipV="1">
            <a:off x="7138988" y="3238500"/>
            <a:ext cx="5581650" cy="904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347151"/>
            </a:solidFill>
            <a:prstDash val="dash"/>
            <a:tail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24" idx="1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81000" y="2643188"/>
            <a:ext cx="228600" cy="4267200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347151"/>
            </a:solidFill>
            <a:prstDash val="dash"/>
            <a:tailEnd type="triangle" w="sm" len="sm"/>
          </a:ln>
        </p:spPr>
      </p:cxnSp>
      <p:sp>
        <p:nvSpPr>
          <p:cNvPr id="39" name="经⑧激活 / ⑨观察&#10;异常先恢复">
            <a:extLst xmlns:a="http://schemas.openxmlformats.org/drawingml/2006/main">
              <a:ext uri="{FF2B5EF4-FFF2-40B4-BE49-F238E27FC236}">
                <a16:creationId xmlns:a16="http://schemas.microsoft.com/office/drawing/2014/main" id="{61F0E7EE-9478-4B36-905C-E81CB2AE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372100"/>
            <a:ext cx="2571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经⑧激活 / ⑨观察</a:t>
            </a:r>
          </a:p>
          <a:p xmlns:a="http://schemas.openxmlformats.org/drawingml/2006/main">
            <a:pPr algn="l">
              <a:defRPr sz="15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异常先恢复</a:t>
            </a:r>
          </a:p>
        </p:txBody>
      </p:sp>
      <p:sp>
        <p:nvSpPr>
          <p:cNvPr id="40" name="局部反馈低成本、及时、客观可验证，检查顺序由假设决定。&#10;profile">
            <a:extLst xmlns:a="http://schemas.openxmlformats.org/drawingml/2006/main">
              <a:ext uri="{FF2B5EF4-FFF2-40B4-BE49-F238E27FC236}">
                <a16:creationId xmlns:a16="http://schemas.microsoft.com/office/drawing/2014/main" id="{32C98361-AB2B-4015-9D88-77E74ABA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29250"/>
            <a:ext cx="8820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局部反馈低成本、及时、客观可验证，检查顺序由假设决定。</a:t>
            </a:r>
          </a:p>
          <a:p xmlns:a="http://schemas.openxmlformats.org/drawingml/2006/main">
            <a:pPr algn="l">
              <a:defRPr sz="16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profile 运行不能作为最终性能验收。</a:t>
            </a:r>
          </a:p>
        </p:txBody>
      </p:sp>
    </p:spTree>
    <p:extLst>
      <p:ext uri="{BB962C8B-B14F-4D97-AF65-F5344CB8AC3E}">
        <p14:creationId xmlns:p14="http://schemas.microsoft.com/office/powerpoint/2010/main" val="8242066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三类反馈与探针选择">
            <a:extLst xmlns:a="http://schemas.openxmlformats.org/drawingml/2006/main">
              <a:ext uri="{FF2B5EF4-FFF2-40B4-BE49-F238E27FC236}">
                <a16:creationId xmlns:a16="http://schemas.microsoft.com/office/drawing/2014/main" id="{38DBC021-F991-44CD-9DD0-004F0AF6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三类反馈与探针选择</a:t>
            </a:r>
          </a:p>
        </p:txBody>
      </p:sp>
      <p:sp>
        <p:nvSpPr>
          <p:cNvPr id="2" name="检查顺序由当前假设决定，结果必须有可重复的 oracle">
            <a:extLst xmlns:a="http://schemas.openxmlformats.org/drawingml/2006/main">
              <a:ext uri="{FF2B5EF4-FFF2-40B4-BE49-F238E27FC236}">
                <a16:creationId xmlns:a16="http://schemas.microsoft.com/office/drawing/2014/main" id="{8181D358-7A42-4141-BECC-1B18B959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398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检查顺序由当前假设决定，结果必须有可重复的 oracle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921DA-50F4-455F-9D03-61D7F749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4020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4" name="AgentInfer RSI  /  离线脚手架与目标架构  /  2">
            <a:extLst xmlns:a="http://schemas.openxmlformats.org/drawingml/2006/main">
              <a:ext uri="{FF2B5EF4-FFF2-40B4-BE49-F238E27FC236}">
                <a16:creationId xmlns:a16="http://schemas.microsoft.com/office/drawing/2014/main" id="{7BDD36FA-FEA4-4AFB-A2FB-40E94C72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581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AgentInfer RSI  /  离线脚手架与目标架构  /  2026-09-21</a:t>
            </a:r>
          </a:p>
        </p:txBody>
      </p:sp>
      <p:sp>
        <p:nvSpPr>
          <p:cNvPr id="5" name="08">
            <a:extLst xmlns:a="http://schemas.openxmlformats.org/drawingml/2006/main">
              <a:ext uri="{FF2B5EF4-FFF2-40B4-BE49-F238E27FC236}">
                <a16:creationId xmlns:a16="http://schemas.microsoft.com/office/drawing/2014/main" id="{0F41893C-FFF4-42F2-9C8A-90256B9D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295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correctness">
            <a:extLst xmlns:a="http://schemas.openxmlformats.org/drawingml/2006/main">
              <a:ext uri="{FF2B5EF4-FFF2-40B4-BE49-F238E27FC236}">
                <a16:creationId xmlns:a16="http://schemas.microsoft.com/office/drawing/2014/main" id="{8673E334-DCE1-45F3-ACC5-9D4FB3F3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correctness</a:t>
            </a:r>
          </a:p>
        </p:txBody>
      </p:sp>
      <p:sp>
        <p:nvSpPr>
          <p:cNvPr id="7" name="参考实现 / 差分 / 容差检查">
            <a:extLst xmlns:a="http://schemas.openxmlformats.org/drawingml/2006/main">
              <a:ext uri="{FF2B5EF4-FFF2-40B4-BE49-F238E27FC236}">
                <a16:creationId xmlns:a16="http://schemas.microsoft.com/office/drawing/2014/main" id="{9FCA4214-9766-406D-894B-23ED8FD6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71700"/>
            <a:ext cx="966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参考实现 / 差分 / 容差检查</a:t>
            </a:r>
          </a:p>
        </p:txBody>
      </p:sp>
      <p:sp>
        <p:nvSpPr>
          <p:cNvPr id="8" name="协议或数值是否满足冻结合同">
            <a:extLst xmlns:a="http://schemas.openxmlformats.org/drawingml/2006/main">
              <a:ext uri="{FF2B5EF4-FFF2-40B4-BE49-F238E27FC236}">
                <a16:creationId xmlns:a16="http://schemas.microsoft.com/office/drawing/2014/main" id="{35537A8A-DA88-43B7-8C28-10CA7AF6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00350"/>
            <a:ext cx="966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协议或数值是否满足冻结合同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581E34-CEC1-449A-A604-73034D9E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52825"/>
            <a:ext cx="13763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10" name="system_behavior">
            <a:extLst xmlns:a="http://schemas.openxmlformats.org/drawingml/2006/main">
              <a:ext uri="{FF2B5EF4-FFF2-40B4-BE49-F238E27FC236}">
                <a16:creationId xmlns:a16="http://schemas.microsoft.com/office/drawing/2014/main" id="{B2AEAC18-2319-4560-8CEE-95D6CC0D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system_behavior</a:t>
            </a:r>
          </a:p>
        </p:txBody>
      </p:sp>
      <p:sp>
        <p:nvSpPr>
          <p:cNvPr id="11" name="受控干预 / 状态不变量 / 故障注入">
            <a:extLst xmlns:a="http://schemas.openxmlformats.org/drawingml/2006/main">
              <a:ext uri="{FF2B5EF4-FFF2-40B4-BE49-F238E27FC236}">
                <a16:creationId xmlns:a16="http://schemas.microsoft.com/office/drawing/2014/main" id="{38C43F41-F6AB-47AB-925E-BDED941C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48100"/>
            <a:ext cx="966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受控干预 / 状态不变量 / 故障注入</a:t>
            </a:r>
          </a:p>
        </p:txBody>
      </p:sp>
      <p:sp>
        <p:nvSpPr>
          <p:cNvPr id="12" name="行为是否符合预测，资源是否收敛">
            <a:extLst xmlns:a="http://schemas.openxmlformats.org/drawingml/2006/main">
              <a:ext uri="{FF2B5EF4-FFF2-40B4-BE49-F238E27FC236}">
                <a16:creationId xmlns:a16="http://schemas.microsoft.com/office/drawing/2014/main" id="{5CB60D65-75F7-48EC-BF03-33EF5088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966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行为是否符合预测，资源是否收敛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615B86-7482-44F5-8BE5-A6B80787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29225"/>
            <a:ext cx="13763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14" name="performance">
            <a:extLst xmlns:a="http://schemas.openxmlformats.org/drawingml/2006/main">
              <a:ext uri="{FF2B5EF4-FFF2-40B4-BE49-F238E27FC236}">
                <a16:creationId xmlns:a16="http://schemas.microsoft.com/office/drawing/2014/main" id="{999566C6-8FFC-4D1F-A5F7-2CB5BF0D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performance</a:t>
            </a:r>
          </a:p>
        </p:txBody>
      </p:sp>
      <p:sp>
        <p:nvSpPr>
          <p:cNvPr id="15" name="microbench / 配对负载 / 消融">
            <a:extLst xmlns:a="http://schemas.openxmlformats.org/drawingml/2006/main">
              <a:ext uri="{FF2B5EF4-FFF2-40B4-BE49-F238E27FC236}">
                <a16:creationId xmlns:a16="http://schemas.microsoft.com/office/drawing/2014/main" id="{D9D61D3C-E0DD-408A-89DC-88F4AF8B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524500"/>
            <a:ext cx="966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microbench / 配对负载 / 消融</a:t>
            </a:r>
          </a:p>
        </p:txBody>
      </p:sp>
      <p:sp>
        <p:nvSpPr>
          <p:cNvPr id="16" name="去掉 profiler 后收益是否仍成立">
            <a:extLst xmlns:a="http://schemas.openxmlformats.org/drawingml/2006/main">
              <a:ext uri="{FF2B5EF4-FFF2-40B4-BE49-F238E27FC236}">
                <a16:creationId xmlns:a16="http://schemas.microsoft.com/office/drawing/2014/main" id="{56553479-0867-45B0-A0A9-8D1C4069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153150"/>
            <a:ext cx="966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去掉 profiler 后收益是否仍成立</a:t>
            </a:r>
          </a:p>
        </p:txBody>
      </p:sp>
    </p:spTree>
    <p:extLst>
      <p:ext uri="{BB962C8B-B14F-4D97-AF65-F5344CB8AC3E}">
        <p14:creationId xmlns:p14="http://schemas.microsoft.com/office/powerpoint/2010/main" val="7525948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FeedbackRecord 的最小契约">
            <a:extLst xmlns:a="http://schemas.openxmlformats.org/drawingml/2006/main">
              <a:ext uri="{FF2B5EF4-FFF2-40B4-BE49-F238E27FC236}">
                <a16:creationId xmlns:a16="http://schemas.microsoft.com/office/drawing/2014/main" id="{FF147D6A-5477-4980-BC7E-1C9C3D74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FeedbackRecord 的最小契约</a:t>
            </a:r>
          </a:p>
        </p:txBody>
      </p:sp>
      <p:sp>
        <p:nvSpPr>
          <p:cNvPr id="2" name="每个结果都能回答：测了谁、在哪测、如何判断、证据在哪">
            <a:extLst xmlns:a="http://schemas.openxmlformats.org/drawingml/2006/main">
              <a:ext uri="{FF2B5EF4-FFF2-40B4-BE49-F238E27FC236}">
                <a16:creationId xmlns:a16="http://schemas.microsoft.com/office/drawing/2014/main" id="{5F7C2C78-8E5C-4BCC-9855-181F7B1D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398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每个结果都能回答：测了谁、在哪测、如何判断、证据在哪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E323A-557C-49D7-BBC1-E56932B3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4020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4" name="AgentInfer RSI  /  离线脚手架与目标架构  /  2">
            <a:extLst xmlns:a="http://schemas.openxmlformats.org/drawingml/2006/main">
              <a:ext uri="{FF2B5EF4-FFF2-40B4-BE49-F238E27FC236}">
                <a16:creationId xmlns:a16="http://schemas.microsoft.com/office/drawing/2014/main" id="{CC3FC111-AB0E-499C-881F-AAD3788B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581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AgentInfer RSI  /  离线脚手架与目标架构  /  2026-09-21</a:t>
            </a:r>
          </a:p>
        </p:txBody>
      </p:sp>
      <p:sp>
        <p:nvSpPr>
          <p:cNvPr id="5" name="09">
            <a:extLst xmlns:a="http://schemas.openxmlformats.org/drawingml/2006/main">
              <a:ext uri="{FF2B5EF4-FFF2-40B4-BE49-F238E27FC236}">
                <a16:creationId xmlns:a16="http://schemas.microsoft.com/office/drawing/2014/main" id="{F048BBBB-F5B1-45F2-A0EB-45FFCCFF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295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关联">
            <a:extLst xmlns:a="http://schemas.openxmlformats.org/drawingml/2006/main">
              <a:ext uri="{FF2B5EF4-FFF2-40B4-BE49-F238E27FC236}">
                <a16:creationId xmlns:a16="http://schemas.microsoft.com/office/drawing/2014/main" id="{92B2CA50-C642-4080-B09C-4F5FB4C8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717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关联</a:t>
            </a:r>
          </a:p>
        </p:txBody>
      </p:sp>
      <p:sp>
        <p:nvSpPr>
          <p:cNvPr id="7" name="check_id / hypothesis_id / candidat">
            <a:extLst xmlns:a="http://schemas.openxmlformats.org/drawingml/2006/main">
              <a:ext uri="{FF2B5EF4-FFF2-40B4-BE49-F238E27FC236}">
                <a16:creationId xmlns:a16="http://schemas.microsoft.com/office/drawing/2014/main" id="{CC464E7A-DF55-4C65-99D4-32A6A15C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1717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check_id / hypothesis_id / candidate_id / baseline_id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14E04-3CC3-49C6-8155-9A7DDDF0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371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9" name="范围">
            <a:extLst xmlns:a="http://schemas.openxmlformats.org/drawingml/2006/main">
              <a:ext uri="{FF2B5EF4-FFF2-40B4-BE49-F238E27FC236}">
                <a16:creationId xmlns:a16="http://schemas.microsoft.com/office/drawing/2014/main" id="{015FA357-552B-4F4B-B5E3-B4D0B2F5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813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范围</a:t>
            </a:r>
          </a:p>
        </p:txBody>
      </p:sp>
      <p:sp>
        <p:nvSpPr>
          <p:cNvPr id="10" name="backend / layer / category / scope">
            <a:extLst xmlns:a="http://schemas.openxmlformats.org/drawingml/2006/main">
              <a:ext uri="{FF2B5EF4-FFF2-40B4-BE49-F238E27FC236}">
                <a16:creationId xmlns:a16="http://schemas.microsoft.com/office/drawing/2014/main" id="{4CBEF40F-E2D2-4B5F-A5C6-FA500548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381375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backend / layer / category /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2F20BA-580C-4B84-8B55-F4F5FA77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52925"/>
            <a:ext cx="1371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12" name="结果">
            <a:extLst xmlns:a="http://schemas.openxmlformats.org/drawingml/2006/main">
              <a:ext uri="{FF2B5EF4-FFF2-40B4-BE49-F238E27FC236}">
                <a16:creationId xmlns:a16="http://schemas.microsoft.com/office/drawing/2014/main" id="{1A50E1E0-8FBB-4746-82E2-43BA5F56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910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3" name="verdict / metric / value / unit / n">
            <a:extLst xmlns:a="http://schemas.openxmlformats.org/drawingml/2006/main">
              <a:ext uri="{FF2B5EF4-FFF2-40B4-BE49-F238E27FC236}">
                <a16:creationId xmlns:a16="http://schemas.microsoft.com/office/drawing/2014/main" id="{7FE06517-C10C-454B-96BE-5618BD92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5910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verdict / metric / value / unit / next_test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9DBC9-8D8E-4FCF-8538-6D8BFB7C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1371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15" name="溯源">
            <a:extLst xmlns:a="http://schemas.openxmlformats.org/drawingml/2006/main">
              <a:ext uri="{FF2B5EF4-FFF2-40B4-BE49-F238E27FC236}">
                <a16:creationId xmlns:a16="http://schemas.microsoft.com/office/drawing/2014/main" id="{092D7260-AFBB-4019-B0E2-552B3B60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80072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溯源</a:t>
            </a:r>
          </a:p>
        </p:txBody>
      </p:sp>
      <p:sp>
        <p:nvSpPr>
          <p:cNvPr id="16" name="evidence_refs / diagnostic / synthe">
            <a:extLst xmlns:a="http://schemas.openxmlformats.org/drawingml/2006/main">
              <a:ext uri="{FF2B5EF4-FFF2-40B4-BE49-F238E27FC236}">
                <a16:creationId xmlns:a16="http://schemas.microsoft.com/office/drawing/2014/main" id="{E8A847A6-BA6C-447E-8167-EC8F3938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800725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evidence_refs / diagnostic / synthetic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A132F6-4BAA-436D-B487-3A0FCB62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772275"/>
            <a:ext cx="1371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18" name="缺失证据保持 unavailable。Agent 的解释不能补成测量值">
            <a:extLst xmlns:a="http://schemas.openxmlformats.org/drawingml/2006/main">
              <a:ext uri="{FF2B5EF4-FFF2-40B4-BE49-F238E27FC236}">
                <a16:creationId xmlns:a16="http://schemas.microsoft.com/office/drawing/2014/main" id="{427ACDCA-0D4C-4C4C-A5AF-D629D4C7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239000"/>
            <a:ext cx="1362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46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A46525"/>
                </a:solidFill>
                <a:latin typeface="Microsoft YaHei"/>
                <a:ea typeface="Microsoft YaHei"/>
                <a:cs typeface="Microsoft YaHei"/>
              </a:rPr>
              <a:t>缺失证据保持 unavailable。Agent 的解释不能补成测量值。</a:t>
            </a:r>
          </a:p>
        </p:txBody>
      </p:sp>
    </p:spTree>
    <p:extLst>
      <p:ext uri="{BB962C8B-B14F-4D97-AF65-F5344CB8AC3E}">
        <p14:creationId xmlns:p14="http://schemas.microsoft.com/office/powerpoint/2010/main" val="8506138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rofile 归因与最终性能验收">
            <a:extLst xmlns:a="http://schemas.openxmlformats.org/drawingml/2006/main">
              <a:ext uri="{FF2B5EF4-FFF2-40B4-BE49-F238E27FC236}">
                <a16:creationId xmlns:a16="http://schemas.microsoft.com/office/drawing/2014/main" id="{7529D4EE-0059-401D-8C87-F81D3A0B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Profile 归因与最终性能验收</a:t>
            </a:r>
          </a:p>
        </p:txBody>
      </p:sp>
      <p:sp>
        <p:nvSpPr>
          <p:cNvPr id="2" name="先定位开销，再关闭 profiler 做配对性能测量">
            <a:extLst xmlns:a="http://schemas.openxmlformats.org/drawingml/2006/main">
              <a:ext uri="{FF2B5EF4-FFF2-40B4-BE49-F238E27FC236}">
                <a16:creationId xmlns:a16="http://schemas.microsoft.com/office/drawing/2014/main" id="{243215A9-EC18-46D9-B7F2-1D4170A9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398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先定位开销，再关闭 profiler 做配对性能测量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9A622-380C-4F9F-B179-26E9616A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4020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4" name="AgentInfer RSI  /  离线脚手架与目标架构  /  2">
            <a:extLst xmlns:a="http://schemas.openxmlformats.org/drawingml/2006/main">
              <a:ext uri="{FF2B5EF4-FFF2-40B4-BE49-F238E27FC236}">
                <a16:creationId xmlns:a16="http://schemas.microsoft.com/office/drawing/2014/main" id="{1AE3C6FB-6CD7-4F27-A9DA-6C62291D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581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AgentInfer RSI  /  离线脚手架与目标架构  /  2026-09-21</a:t>
            </a:r>
          </a:p>
        </p:txBody>
      </p:sp>
      <p:sp>
        <p:nvSpPr>
          <p:cNvPr id="5" name="10">
            <a:extLst xmlns:a="http://schemas.openxmlformats.org/drawingml/2006/main">
              <a:ext uri="{FF2B5EF4-FFF2-40B4-BE49-F238E27FC236}">
                <a16:creationId xmlns:a16="http://schemas.microsoft.com/office/drawing/2014/main" id="{B84D6762-B05B-4A5C-8D6B-69D20000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295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归因运行">
            <a:extLst xmlns:a="http://schemas.openxmlformats.org/drawingml/2006/main">
              <a:ext uri="{FF2B5EF4-FFF2-40B4-BE49-F238E27FC236}">
                <a16:creationId xmlns:a16="http://schemas.microsoft.com/office/drawing/2014/main" id="{00F1C4CE-6391-4239-AF91-561317DB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43125"/>
            <a:ext cx="638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归因运行</a:t>
            </a:r>
          </a:p>
        </p:txBody>
      </p:sp>
      <p:sp>
        <p:nvSpPr>
          <p:cNvPr id="7" name="CUDA：PyTorch / Nsight Systems&#10;Ascen">
            <a:extLst xmlns:a="http://schemas.openxmlformats.org/drawingml/2006/main">
              <a:ext uri="{FF2B5EF4-FFF2-40B4-BE49-F238E27FC236}">
                <a16:creationId xmlns:a16="http://schemas.microsoft.com/office/drawing/2014/main" id="{50ABAB93-4247-4FBF-9180-E41CCE6A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95575"/>
            <a:ext cx="638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CUDA：PyTorch / Nsight Systems</a:t>
            </a:r>
          </a:p>
          <a:p xmlns:a="http://schemas.openxmlformats.org/drawingml/2006/main">
            <a:pPr algn="l">
              <a:def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Ascend：PyTorch / MS Service Profiler</a:t>
            </a:r>
          </a:p>
          <a:p xmlns:a="http://schemas.openxmlformats.org/drawingml/2006/main">
            <a:pPr algn="l">
              <a:def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输出函数、算子与通信开销证据。</a:t>
            </a:r>
          </a:p>
        </p:txBody>
      </p:sp>
      <p:sp>
        <p:nvSpPr>
          <p:cNvPr id="8" name="验收运行">
            <a:extLst xmlns:a="http://schemas.openxmlformats.org/drawingml/2006/main">
              <a:ext uri="{FF2B5EF4-FFF2-40B4-BE49-F238E27FC236}">
                <a16:creationId xmlns:a16="http://schemas.microsoft.com/office/drawing/2014/main" id="{C1F20DBB-6C0A-4698-934D-839DFABF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143125"/>
            <a:ext cx="638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验收运行</a:t>
            </a:r>
          </a:p>
        </p:txBody>
      </p:sp>
      <p:sp>
        <p:nvSpPr>
          <p:cNvPr id="9" name="关闭 profiler，固定版本与负载。&#10;比较吞吐、p95 延迟、资源">
            <a:extLst xmlns:a="http://schemas.openxmlformats.org/drawingml/2006/main">
              <a:ext uri="{FF2B5EF4-FFF2-40B4-BE49-F238E27FC236}">
                <a16:creationId xmlns:a16="http://schemas.microsoft.com/office/drawing/2014/main" id="{9A67CCDE-2523-4195-8DE9-A97C19F4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695575"/>
            <a:ext cx="638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关闭 profiler，固定版本与负载。</a:t>
            </a:r>
          </a:p>
          <a:p xmlns:a="http://schemas.openxmlformats.org/drawingml/2006/main">
            <a:pPr algn="l">
              <a:def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比较吞吐、p95 延迟、资源与质量。</a:t>
            </a:r>
          </a:p>
          <a:p xmlns:a="http://schemas.openxmlformats.org/drawingml/2006/main">
            <a:pPr algn="l">
              <a:def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显式记录冷缓存或热缓存起点。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6C5540-62FA-48C8-9556-9AC2D266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105400"/>
            <a:ext cx="13601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11" name="同一 scope 下保留 profile 与 benchmark 两类">
            <a:extLst xmlns:a="http://schemas.openxmlformats.org/drawingml/2006/main">
              <a:ext uri="{FF2B5EF4-FFF2-40B4-BE49-F238E27FC236}">
                <a16:creationId xmlns:a16="http://schemas.microsoft.com/office/drawing/2014/main" id="{E36AE165-BA91-4742-8811-030FB6A6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629275"/>
            <a:ext cx="1343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同一 scope 下保留 profile 与 benchmark 两类证据，</a:t>
            </a:r>
          </a:p>
          <a:p xmlns:a="http://schemas.openxmlformats.org/drawingml/2006/main">
            <a:pPr algn="l">
              <a:defRPr sz="24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禁止把带采样开销的 profile 数值直接发布为性能收益。</a:t>
            </a:r>
          </a:p>
        </p:txBody>
      </p:sp>
      <p:sp>
        <p:nvSpPr>
          <p:cNvPr id="12" name="当前实现只校验反馈记录与门禁。真实探针和设备适配后续接入。">
            <a:extLst xmlns:a="http://schemas.openxmlformats.org/drawingml/2006/main">
              <a:ext uri="{FF2B5EF4-FFF2-40B4-BE49-F238E27FC236}">
                <a16:creationId xmlns:a16="http://schemas.microsoft.com/office/drawing/2014/main" id="{6234F312-8576-44AA-BA0B-C2C95A80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134225"/>
            <a:ext cx="1343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当前实现只校验反馈记录与门禁。真实探针和设备适配后续接入。</a:t>
            </a:r>
          </a:p>
        </p:txBody>
      </p:sp>
    </p:spTree>
    <p:extLst>
      <p:ext uri="{BB962C8B-B14F-4D97-AF65-F5344CB8AC3E}">
        <p14:creationId xmlns:p14="http://schemas.microsoft.com/office/powerpoint/2010/main" val="6921473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分层知识库与知识晋升">
            <a:extLst xmlns:a="http://schemas.openxmlformats.org/drawingml/2006/main">
              <a:ext uri="{FF2B5EF4-FFF2-40B4-BE49-F238E27FC236}">
                <a16:creationId xmlns:a16="http://schemas.microsoft.com/office/drawing/2014/main" id="{D32C4351-7B5D-4C4C-BE3B-85A9EB93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分层知识库与知识晋升</a:t>
            </a:r>
          </a:p>
        </p:txBody>
      </p:sp>
      <p:sp>
        <p:nvSpPr>
          <p:cNvPr id="2" name="结论带 scope，事实保存在证据库">
            <a:extLst xmlns:a="http://schemas.openxmlformats.org/drawingml/2006/main">
              <a:ext uri="{FF2B5EF4-FFF2-40B4-BE49-F238E27FC236}">
                <a16:creationId xmlns:a16="http://schemas.microsoft.com/office/drawing/2014/main" id="{D6BE1045-18C5-4B50-A0B9-5227DE95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398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结论带 scope，事实保存在证据库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C384D-C23B-4F90-86AE-D0936F61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4020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4" name="AgentInfer RSI  /  离线脚手架与目标架构  /  2">
            <a:extLst xmlns:a="http://schemas.openxmlformats.org/drawingml/2006/main">
              <a:ext uri="{FF2B5EF4-FFF2-40B4-BE49-F238E27FC236}">
                <a16:creationId xmlns:a16="http://schemas.microsoft.com/office/drawing/2014/main" id="{7E547F9D-A3EA-47B3-BD2F-B7C9F465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581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AgentInfer RSI  /  离线脚手架与目标架构  /  2026-09-21</a:t>
            </a:r>
          </a:p>
        </p:txBody>
      </p:sp>
      <p:sp>
        <p:nvSpPr>
          <p:cNvPr id="5" name="11">
            <a:extLst xmlns:a="http://schemas.openxmlformats.org/drawingml/2006/main">
              <a:ext uri="{FF2B5EF4-FFF2-40B4-BE49-F238E27FC236}">
                <a16:creationId xmlns:a16="http://schemas.microsoft.com/office/drawing/2014/main" id="{9D0B3703-CF62-4ADD-8965-78B84CBE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295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EC28C-EE47-4296-AD3D-C7CE5951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14550"/>
            <a:ext cx="136588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95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7" name="system：跨层契约、质量门禁、恢复规则">
            <a:extLst xmlns:a="http://schemas.openxmlformats.org/drawingml/2006/main">
              <a:ext uri="{FF2B5EF4-FFF2-40B4-BE49-F238E27FC236}">
                <a16:creationId xmlns:a16="http://schemas.microsoft.com/office/drawing/2014/main" id="{10A1E36F-07A8-448B-937E-40C015CF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28850"/>
            <a:ext cx="132778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system：跨层契约、质量门禁、恢复规则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5508A-8182-422A-93F8-D5133169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71850"/>
            <a:ext cx="136588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9" name="组件知识">
            <a:extLst xmlns:a="http://schemas.openxmlformats.org/drawingml/2006/main">
              <a:ext uri="{FF2B5EF4-FFF2-40B4-BE49-F238E27FC236}">
                <a16:creationId xmlns:a16="http://schemas.microsoft.com/office/drawing/2014/main" id="{74D7CDC1-F118-4876-BFC7-50A71529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1327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组件知识</a:t>
            </a:r>
          </a:p>
        </p:txBody>
      </p:sp>
      <p:sp>
        <p:nvSpPr>
          <p:cNvPr id="10" name="semantic-router / router / harness ">
            <a:extLst xmlns:a="http://schemas.openxmlformats.org/drawingml/2006/main">
              <a:ext uri="{FF2B5EF4-FFF2-40B4-BE49-F238E27FC236}">
                <a16:creationId xmlns:a16="http://schemas.microsoft.com/office/drawing/2014/main" id="{1767120B-7C58-4E54-AC3C-46722F7D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867150"/>
            <a:ext cx="1327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semantic-router / router / harness / agent-cache</a:t>
            </a:r>
          </a:p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vllm / vllm-ascend，以及 backend 内共享 taxonomy</a:t>
            </a:r>
          </a:p>
        </p:txBody>
      </p:sp>
      <p:cxnSp>
        <p:nvCxnSpPr>
          <p:cNvPr id="26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620000" y="2924175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47151"/>
            </a:solidFill>
            <a:prstDash val="solid"/>
            <a:tailEnd type="triangle" w="sm" len="sm"/>
          </a:ln>
        </p:spPr>
      </p:cxnSp>
      <p:sp>
        <p:nvSpPr>
          <p:cNvPr id="12" name="scope：模型、引擎、硬件、负载&#10;evidence：URI / ha">
            <a:extLst xmlns:a="http://schemas.openxmlformats.org/drawingml/2006/main">
              <a:ext uri="{FF2B5EF4-FFF2-40B4-BE49-F238E27FC236}">
                <a16:creationId xmlns:a16="http://schemas.microsoft.com/office/drawing/2014/main" id="{A2067D2D-720D-4404-B96F-668F10FC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53025"/>
            <a:ext cx="666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scope：模型、引擎、硬件、负载</a:t>
            </a:r>
          </a:p>
          <a:p xmlns:a="http://schemas.openxmlformats.org/drawingml/2006/main">
            <a:pPr algn="l">
              <a:def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evidence：URI / hash / revision</a:t>
            </a:r>
          </a:p>
        </p:txBody>
      </p:sp>
      <p:sp>
        <p:nvSpPr>
          <p:cNvPr id="13" name="状态：proposed / verified&#10;rejected / d">
            <a:extLst xmlns:a="http://schemas.openxmlformats.org/drawingml/2006/main">
              <a:ext uri="{FF2B5EF4-FFF2-40B4-BE49-F238E27FC236}">
                <a16:creationId xmlns:a16="http://schemas.microsoft.com/office/drawing/2014/main" id="{FA60626D-13EF-4E2A-8D4E-0A88DA87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153025"/>
            <a:ext cx="628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状态：proposed / verified</a:t>
            </a:r>
          </a:p>
          <a:p xmlns:a="http://schemas.openxmlformats.org/drawingml/2006/main">
            <a:pPr algn="l">
              <a:defRPr sz="21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rejected / deprecated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D5DC2-B5BA-4C1B-BB39-832B91DD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600825"/>
            <a:ext cx="13658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15" name="失效条件触发复验。反例与旧证据保留，已验证经验供下一轮检索。">
            <a:extLst xmlns:a="http://schemas.openxmlformats.org/drawingml/2006/main">
              <a:ext uri="{FF2B5EF4-FFF2-40B4-BE49-F238E27FC236}">
                <a16:creationId xmlns:a16="http://schemas.microsoft.com/office/drawing/2014/main" id="{00E7F9A4-BAEF-4668-BD96-1807872B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934200"/>
            <a:ext cx="1352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失效条件触发复验。反例与旧证据保留，已验证经验供下一轮检索。</a:t>
            </a:r>
          </a:p>
        </p:txBody>
      </p:sp>
    </p:spTree>
    <p:extLst>
      <p:ext uri="{BB962C8B-B14F-4D97-AF65-F5344CB8AC3E}">
        <p14:creationId xmlns:p14="http://schemas.microsoft.com/office/powerpoint/2010/main" val="9397548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验收、激活与稳定版本">
            <a:extLst xmlns:a="http://schemas.openxmlformats.org/drawingml/2006/main">
              <a:ext uri="{FF2B5EF4-FFF2-40B4-BE49-F238E27FC236}">
                <a16:creationId xmlns:a16="http://schemas.microsoft.com/office/drawing/2014/main" id="{46CF1F19-DCEB-4E1A-8760-C4D30E69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验收、激活与稳定版本</a:t>
            </a:r>
          </a:p>
        </p:txBody>
      </p:sp>
      <p:sp>
        <p:nvSpPr>
          <p:cNvPr id="2" name="accepted、active、last_good 分别表达不同事实">
            <a:extLst xmlns:a="http://schemas.openxmlformats.org/drawingml/2006/main">
              <a:ext uri="{FF2B5EF4-FFF2-40B4-BE49-F238E27FC236}">
                <a16:creationId xmlns:a16="http://schemas.microsoft.com/office/drawing/2014/main" id="{4BEEE34F-AD73-4403-A7F1-1FD020E8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398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accepted、active、last_good 分别表达不同事实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683B8-6D95-4610-995D-FF14C4DD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4020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4" name="AgentInfer RSI  /  离线脚手架与目标架构  /  2">
            <a:extLst xmlns:a="http://schemas.openxmlformats.org/drawingml/2006/main">
              <a:ext uri="{FF2B5EF4-FFF2-40B4-BE49-F238E27FC236}">
                <a16:creationId xmlns:a16="http://schemas.microsoft.com/office/drawing/2014/main" id="{020C1FFE-DC4C-4981-970C-6A93A8AC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581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AgentInfer RSI  /  离线脚手架与目标架构  /  2026-09-21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88F4ECC6-58AD-45AD-90C9-95F381AA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295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CF027-B22F-4A94-8917-D0411153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62200"/>
            <a:ext cx="4191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2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7" name="⑦ accepted">
            <a:extLst xmlns:a="http://schemas.openxmlformats.org/drawingml/2006/main">
              <a:ext uri="{FF2B5EF4-FFF2-40B4-BE49-F238E27FC236}">
                <a16:creationId xmlns:a16="http://schemas.microsoft.com/office/drawing/2014/main" id="{382572BD-DBD0-462D-B992-0DE23906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765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⑦ accepted</a:t>
            </a:r>
          </a:p>
        </p:txBody>
      </p:sp>
      <p:sp>
        <p:nvSpPr>
          <p:cNvPr id="8" name="独立裁决通过&#10;当前服务版本尚未改变">
            <a:extLst xmlns:a="http://schemas.openxmlformats.org/drawingml/2006/main">
              <a:ext uri="{FF2B5EF4-FFF2-40B4-BE49-F238E27FC236}">
                <a16:creationId xmlns:a16="http://schemas.microsoft.com/office/drawing/2014/main" id="{E56D7E45-3AD2-42B8-9DA2-7A8E18F2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3810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独立裁决通过</a:t>
            </a:r>
          </a:p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当前服务版本尚未改变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1D88C-FD5C-4F72-9F5E-3EEE1379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362200"/>
            <a:ext cx="4191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10" name="⑧ active">
            <a:extLst xmlns:a="http://schemas.openxmlformats.org/drawingml/2006/main">
              <a:ext uri="{FF2B5EF4-FFF2-40B4-BE49-F238E27FC236}">
                <a16:creationId xmlns:a16="http://schemas.microsoft.com/office/drawing/2014/main" id="{0E8DBEAD-7270-43A1-877C-D41450DD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4765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⑧ active</a:t>
            </a:r>
          </a:p>
        </p:txBody>
      </p:sp>
      <p:sp>
        <p:nvSpPr>
          <p:cNvPr id="11" name="显式批准后激活&#10;保留旧 last_good">
            <a:extLst xmlns:a="http://schemas.openxmlformats.org/drawingml/2006/main">
              <a:ext uri="{FF2B5EF4-FFF2-40B4-BE49-F238E27FC236}">
                <a16:creationId xmlns:a16="http://schemas.microsoft.com/office/drawing/2014/main" id="{72C4FDD8-FDF6-4350-ADE2-8E83EFB2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57500"/>
            <a:ext cx="3810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显式批准后激活</a:t>
            </a:r>
          </a:p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保留旧 last_good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A911E2-EA18-4458-863F-FBF8762E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362200"/>
            <a:ext cx="4095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95"/>
          </a:solidFill>
          <a:ln xmlns:a="http://schemas.openxmlformats.org/drawingml/2006/main" w="14288">
            <a:solidFill>
              <a:srgbClr val="CDD8C8"/>
            </a:solidFill>
          </a:ln>
        </p:spPr>
      </p:sp>
      <p:sp>
        <p:nvSpPr>
          <p:cNvPr id="13" name="⑨ last_good">
            <a:extLst xmlns:a="http://schemas.openxmlformats.org/drawingml/2006/main">
              <a:ext uri="{FF2B5EF4-FFF2-40B4-BE49-F238E27FC236}">
                <a16:creationId xmlns:a16="http://schemas.microsoft.com/office/drawing/2014/main" id="{7B83E574-3882-47B6-9BBD-25437E9A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4765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⑨ last_good</a:t>
            </a:r>
          </a:p>
        </p:txBody>
      </p:sp>
      <p:sp>
        <p:nvSpPr>
          <p:cNvPr id="14" name="观察通过后更新&#10;失败恢复稳定版本">
            <a:extLst xmlns:a="http://schemas.openxmlformats.org/drawingml/2006/main">
              <a:ext uri="{FF2B5EF4-FFF2-40B4-BE49-F238E27FC236}">
                <a16:creationId xmlns:a16="http://schemas.microsoft.com/office/drawing/2014/main" id="{FF21562A-F81A-4C9C-B2B3-49138955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857500"/>
            <a:ext cx="3714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观察通过后更新</a:t>
            </a:r>
          </a:p>
          <a:p xmlns:a="http://schemas.openxmlformats.org/drawingml/2006/main">
            <a:pPr algn="l">
              <a:def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失败恢复稳定版本</a:t>
            </a:r>
          </a:p>
        </p:txBody>
      </p: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000625" y="30527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47151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763125" y="30527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47151"/>
            </a:solidFill>
            <a:prstDash val="solid"/>
            <a:tailEnd type="triangle" w="sm" len="sm"/>
          </a:ln>
        </p:spPr>
      </p:cxnSp>
      <p:sp>
        <p:nvSpPr>
          <p:cNvPr id="17" name="发布范围必须匹配证据范围。&#10;CUDA 通过不能自动解除 Ascend ">
            <a:extLst xmlns:a="http://schemas.openxmlformats.org/drawingml/2006/main">
              <a:ext uri="{FF2B5EF4-FFF2-40B4-BE49-F238E27FC236}">
                <a16:creationId xmlns:a16="http://schemas.microsoft.com/office/drawing/2014/main" id="{7B60A09A-FBBA-46C9-A5A5-A5B0C1E5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13430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发布范围必须匹配证据范围。</a:t>
            </a:r>
          </a:p>
          <a:p xmlns:a="http://schemas.openxmlformats.org/drawingml/2006/main">
            <a:pPr algn="l">
              <a:defRPr sz="24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CUDA 通过不能自动解除 Ascend 兼容门禁。</a:t>
            </a:r>
          </a:p>
        </p:txBody>
      </p:sp>
      <p:sp>
        <p:nvSpPr>
          <p:cNvPr id="18" name="恢复结果未知时先对账。恢复失败进入 NEEDS_RECOVERY。&#10;真">
            <a:extLst xmlns:a="http://schemas.openxmlformats.org/drawingml/2006/main">
              <a:ext uri="{FF2B5EF4-FFF2-40B4-BE49-F238E27FC236}">
                <a16:creationId xmlns:a16="http://schemas.microsoft.com/office/drawing/2014/main" id="{2C03CB14-6277-4467-9585-B2B30431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53125"/>
            <a:ext cx="1343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恢复结果未知时先对账。恢复失败进入 NEEDS_RECOVERY。</a:t>
            </a:r>
          </a:p>
          <a:p xmlns:a="http://schemas.openxmlformats.org/drawingml/2006/main">
            <a:pPr algn="l">
              <a:defRPr sz="21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真实部署与回滚 adapter 尚未接入。</a:t>
            </a:r>
          </a:p>
        </p:txBody>
      </p:sp>
    </p:spTree>
    <p:extLst>
      <p:ext uri="{BB962C8B-B14F-4D97-AF65-F5344CB8AC3E}">
        <p14:creationId xmlns:p14="http://schemas.microsoft.com/office/powerpoint/2010/main" val="12892243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Dashboard 的观测与人工干预">
            <a:extLst xmlns:a="http://schemas.openxmlformats.org/drawingml/2006/main">
              <a:ext uri="{FF2B5EF4-FFF2-40B4-BE49-F238E27FC236}">
                <a16:creationId xmlns:a16="http://schemas.microsoft.com/office/drawing/2014/main" id="{B049FB44-7855-41C5-93B3-8E8C8DFE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Dashboard 的观测与人工干预</a:t>
            </a:r>
          </a:p>
        </p:txBody>
      </p:sp>
      <p:sp>
        <p:nvSpPr>
          <p:cNvPr id="2" name="本地 mock UI。演示操作不会启动硬件实验或修改线上服务">
            <a:extLst xmlns:a="http://schemas.openxmlformats.org/drawingml/2006/main">
              <a:ext uri="{FF2B5EF4-FFF2-40B4-BE49-F238E27FC236}">
                <a16:creationId xmlns:a16="http://schemas.microsoft.com/office/drawing/2014/main" id="{B61E664B-A758-4291-86DF-62B513D1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398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本地 mock UI。演示操作不会启动硬件实验或修改线上服务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D4F66-B185-4FE4-9827-F777F419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4020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4" name="AgentInfer RSI  /  离线脚手架与目标架构  /  2">
            <a:extLst xmlns:a="http://schemas.openxmlformats.org/drawingml/2006/main">
              <a:ext uri="{FF2B5EF4-FFF2-40B4-BE49-F238E27FC236}">
                <a16:creationId xmlns:a16="http://schemas.microsoft.com/office/drawing/2014/main" id="{60AF1219-7D12-4555-9230-86783AC3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581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AgentInfer RSI  /  离线脚手架与目标架构  /  2026-09-21</a:t>
            </a:r>
          </a:p>
        </p:txBody>
      </p:sp>
      <p:sp>
        <p:nvSpPr>
          <p:cNvPr id="5" name="13">
            <a:extLst xmlns:a="http://schemas.openxmlformats.org/drawingml/2006/main">
              <a:ext uri="{FF2B5EF4-FFF2-40B4-BE49-F238E27FC236}">
                <a16:creationId xmlns:a16="http://schemas.microsoft.com/office/drawing/2014/main" id="{F84C9305-A2E8-460D-9D6A-380EAA97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295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a0c488a9e4423c"/>
          <a:stretch xmlns:a="http://schemas.openxmlformats.org/drawingml/2006/main"/>
        </p:blipFill>
        <p:spPr>
          <a:xfrm xmlns:a="http://schemas.openxmlformats.org/drawingml/2006/main">
            <a:off x="1414948" y="1924050"/>
            <a:ext cx="8733453" cy="5943600"/>
          </a:xfrm>
          <a:prstGeom xmlns:a="http://schemas.openxmlformats.org/drawingml/2006/main" prst="rect">
            <a:avLst/>
          </a:prstGeom>
        </p:spPr>
      </p:pic>
      <p:sp>
        <p:nvSpPr>
          <p:cNvPr id="7" name="R-024 / RC-024">
            <a:extLst xmlns:a="http://schemas.openxmlformats.org/drawingml/2006/main">
              <a:ext uri="{FF2B5EF4-FFF2-40B4-BE49-F238E27FC236}">
                <a16:creationId xmlns:a16="http://schemas.microsoft.com/office/drawing/2014/main" id="{296FA1F1-F439-4F9D-9ACB-EE02793B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247900"/>
            <a:ext cx="3105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R-024 / RC-024</a:t>
            </a:r>
          </a:p>
        </p:txBody>
      </p:sp>
      <p:sp>
        <p:nvSpPr>
          <p:cNvPr id="8" name="⑦ 评估中&#10;active v0.8.2&#10;last_good v0.8.">
            <a:extLst xmlns:a="http://schemas.openxmlformats.org/drawingml/2006/main">
              <a:ext uri="{FF2B5EF4-FFF2-40B4-BE49-F238E27FC236}">
                <a16:creationId xmlns:a16="http://schemas.microsoft.com/office/drawing/2014/main" id="{0025E1BC-0916-471E-BE45-A8103851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162300"/>
            <a:ext cx="31051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⑦ 评估中</a:t>
            </a:r>
          </a:p>
          <a:p xmlns:a="http://schemas.openxmlformats.org/drawingml/2006/main">
            <a:pPr algn="l">
              <a:def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active v0.8.2</a:t>
            </a:r>
          </a:p>
          <a:p xmlns:a="http://schemas.openxmlformats.org/drawingml/2006/main">
            <a:pPr algn="l">
              <a:def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last_good v0.8.2</a:t>
            </a:r>
          </a:p>
        </p:txBody>
      </p:sp>
      <p:sp>
        <p:nvSpPr>
          <p:cNvPr id="9" name="门禁未通过&#10;不能批准晋升&#10;人工输入保留审计">
            <a:extLst xmlns:a="http://schemas.openxmlformats.org/drawingml/2006/main">
              <a:ext uri="{FF2B5EF4-FFF2-40B4-BE49-F238E27FC236}">
                <a16:creationId xmlns:a16="http://schemas.microsoft.com/office/drawing/2014/main" id="{71213998-FE7E-4E10-88EB-9406F578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714875"/>
            <a:ext cx="31051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门禁未通过</a:t>
            </a:r>
          </a:p>
          <a:p xmlns:a="http://schemas.openxmlformats.org/drawingml/2006/main">
            <a:pPr algn="l">
              <a:def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不能批准晋升</a:t>
            </a:r>
          </a:p>
          <a:p xmlns:a="http://schemas.openxmlformats.org/drawingml/2006/main">
            <a:pPr algn="l">
              <a:def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人工输入保留审计</a:t>
            </a:r>
          </a:p>
        </p:txBody>
      </p:sp>
      <p:sp>
        <p:nvSpPr>
          <p:cNvPr id="10" name="数字与操作均为演示">
            <a:extLst xmlns:a="http://schemas.openxmlformats.org/drawingml/2006/main">
              <a:ext uri="{FF2B5EF4-FFF2-40B4-BE49-F238E27FC236}">
                <a16:creationId xmlns:a16="http://schemas.microsoft.com/office/drawing/2014/main" id="{4C240CE6-4EC8-4CD7-AF5F-F47A692E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38925"/>
            <a:ext cx="31051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46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46525"/>
                </a:solidFill>
                <a:latin typeface="Microsoft YaHei"/>
                <a:ea typeface="Microsoft YaHei"/>
                <a:cs typeface="Microsoft YaHei"/>
              </a:rPr>
              <a:t>数字与操作均为演示</a:t>
            </a:r>
          </a:p>
        </p:txBody>
      </p:sp>
    </p:spTree>
    <p:extLst>
      <p:ext uri="{BB962C8B-B14F-4D97-AF65-F5344CB8AC3E}">
        <p14:creationId xmlns:p14="http://schemas.microsoft.com/office/powerpoint/2010/main" val="3501687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CPU 可运行的初始 CLI">
            <a:extLst xmlns:a="http://schemas.openxmlformats.org/drawingml/2006/main">
              <a:ext uri="{FF2B5EF4-FFF2-40B4-BE49-F238E27FC236}">
                <a16:creationId xmlns:a16="http://schemas.microsoft.com/office/drawing/2014/main" id="{321FEE5E-CA55-49CE-9F68-86D11359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CPU 可运行的初始 CLI</a:t>
            </a:r>
          </a:p>
        </p:txBody>
      </p:sp>
      <p:sp>
        <p:nvSpPr>
          <p:cNvPr id="2" name="命令在仓库环境执行。输出是离线评估与持久化演示状态">
            <a:extLst xmlns:a="http://schemas.openxmlformats.org/drawingml/2006/main">
              <a:ext uri="{FF2B5EF4-FFF2-40B4-BE49-F238E27FC236}">
                <a16:creationId xmlns:a16="http://schemas.microsoft.com/office/drawing/2014/main" id="{BB23C500-A835-463A-A9A3-31FE5254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398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命令在仓库环境执行。输出是离线评估与持久化演示状态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A8FDD-8A9A-4A45-94EA-1C9235CA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4020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4" name="AgentInfer RSI  /  离线脚手架与目标架构  /  2">
            <a:extLst xmlns:a="http://schemas.openxmlformats.org/drawingml/2006/main">
              <a:ext uri="{FF2B5EF4-FFF2-40B4-BE49-F238E27FC236}">
                <a16:creationId xmlns:a16="http://schemas.microsoft.com/office/drawing/2014/main" id="{587BF4A8-15DD-41CA-91F6-817DC6C1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581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AgentInfer RSI  /  离线脚手架与目标架构  /  2026-09-21</a:t>
            </a:r>
          </a:p>
        </p:txBody>
      </p:sp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131DBEC3-4F66-4A42-B026-546D585C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295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查看分类">
            <a:extLst xmlns:a="http://schemas.openxmlformats.org/drawingml/2006/main">
              <a:ext uri="{FF2B5EF4-FFF2-40B4-BE49-F238E27FC236}">
                <a16:creationId xmlns:a16="http://schemas.microsoft.com/office/drawing/2014/main" id="{325CC77C-ED77-4C5B-B6B9-0CA9FBA4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97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查看分类</a:t>
            </a:r>
          </a:p>
        </p:txBody>
      </p:sp>
      <p:sp>
        <p:nvSpPr>
          <p:cNvPr id="7" name="python -m agentinfer.rsi taxonomy -">
            <a:extLst xmlns:a="http://schemas.openxmlformats.org/drawingml/2006/main">
              <a:ext uri="{FF2B5EF4-FFF2-40B4-BE49-F238E27FC236}">
                <a16:creationId xmlns:a16="http://schemas.microsoft.com/office/drawing/2014/main" id="{EADCB61E-1F0A-4A68-A9E6-3DE220B0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09775"/>
            <a:ext cx="11572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python -m agentinfer.rsi taxonomy --backend cuda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59084-42B3-4BAE-A8AC-87D8903F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3668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9" name="评估反馈">
            <a:extLst xmlns:a="http://schemas.openxmlformats.org/drawingml/2006/main">
              <a:ext uri="{FF2B5EF4-FFF2-40B4-BE49-F238E27FC236}">
                <a16:creationId xmlns:a16="http://schemas.microsoft.com/office/drawing/2014/main" id="{CEEB6916-E07D-4C6D-A17A-96087A49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评估反馈</a:t>
            </a:r>
          </a:p>
        </p:txBody>
      </p:sp>
      <p:sp>
        <p:nvSpPr>
          <p:cNvPr id="10" name="python -m agentinfer.rsi evaluate e">
            <a:extLst xmlns:a="http://schemas.openxmlformats.org/drawingml/2006/main">
              <a:ext uri="{FF2B5EF4-FFF2-40B4-BE49-F238E27FC236}">
                <a16:creationId xmlns:a16="http://schemas.microsoft.com/office/drawing/2014/main" id="{2B1D777A-0604-4AF4-914C-60556D56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95625"/>
            <a:ext cx="11572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python -m agentinfer.rsi evaluate examples/rsi/feedback.json --output report.json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19CD3E-3019-4313-9BFF-FB11AE69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3668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12" name="初始化演示">
            <a:extLst xmlns:a="http://schemas.openxmlformats.org/drawingml/2006/main">
              <a:ext uri="{FF2B5EF4-FFF2-40B4-BE49-F238E27FC236}">
                <a16:creationId xmlns:a16="http://schemas.microsoft.com/office/drawing/2014/main" id="{E3EA7835-1AE4-4710-AD06-7D137EA2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初始化演示</a:t>
            </a:r>
          </a:p>
        </p:txBody>
      </p:sp>
      <p:sp>
        <p:nvSpPr>
          <p:cNvPr id="13" name="python -m agentinfer.rsi demo --run">
            <a:extLst xmlns:a="http://schemas.openxmlformats.org/drawingml/2006/main">
              <a:ext uri="{FF2B5EF4-FFF2-40B4-BE49-F238E27FC236}">
                <a16:creationId xmlns:a16="http://schemas.microsoft.com/office/drawing/2014/main" id="{C03E41B7-561A-4865-A661-5810E53F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81475"/>
            <a:ext cx="11572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python -m agentinfer.rsi demo --run-dir .rsi-demo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7D62D-F2CC-4F35-A1F7-540CEF4E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13668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15" name="读取状态">
            <a:extLst xmlns:a="http://schemas.openxmlformats.org/drawingml/2006/main">
              <a:ext uri="{FF2B5EF4-FFF2-40B4-BE49-F238E27FC236}">
                <a16:creationId xmlns:a16="http://schemas.microsoft.com/office/drawing/2014/main" id="{042C395B-64AA-43E7-B712-65D541CB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673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读取状态</a:t>
            </a:r>
          </a:p>
        </p:txBody>
      </p:sp>
      <p:sp>
        <p:nvSpPr>
          <p:cNvPr id="16" name="python -m agentinfer.rsi status --r">
            <a:extLst xmlns:a="http://schemas.openxmlformats.org/drawingml/2006/main">
              <a:ext uri="{FF2B5EF4-FFF2-40B4-BE49-F238E27FC236}">
                <a16:creationId xmlns:a16="http://schemas.microsoft.com/office/drawing/2014/main" id="{247CB848-1BC6-48C4-93C6-D9C94B60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67325"/>
            <a:ext cx="11572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python -m agentinfer.rsi status --run-dir .rsi-demo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E490E-23ED-4103-BE0C-5CE1EFE8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72200"/>
            <a:ext cx="13668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18" name="打开运行台">
            <a:extLst xmlns:a="http://schemas.openxmlformats.org/drawingml/2006/main">
              <a:ext uri="{FF2B5EF4-FFF2-40B4-BE49-F238E27FC236}">
                <a16:creationId xmlns:a16="http://schemas.microsoft.com/office/drawing/2014/main" id="{E51BB207-524E-411B-8DAE-B19326BA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531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打开运行台</a:t>
            </a:r>
          </a:p>
        </p:txBody>
      </p:sp>
      <p:sp>
        <p:nvSpPr>
          <p:cNvPr id="19" name="python -m agentinfer.rsi serve --ru">
            <a:extLst xmlns:a="http://schemas.openxmlformats.org/drawingml/2006/main">
              <a:ext uri="{FF2B5EF4-FFF2-40B4-BE49-F238E27FC236}">
                <a16:creationId xmlns:a16="http://schemas.microsoft.com/office/drawing/2014/main" id="{9B668B3B-F1AB-471F-9D7A-2ED13D81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53175"/>
            <a:ext cx="11572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python -m agentinfer.rsi serve --run-dir .rsi-demo --port 8877</a:t>
            </a:r>
          </a:p>
        </p:txBody>
      </p:sp>
    </p:spTree>
    <p:extLst>
      <p:ext uri="{BB962C8B-B14F-4D97-AF65-F5344CB8AC3E}">
        <p14:creationId xmlns:p14="http://schemas.microsoft.com/office/powerpoint/2010/main" val="5034683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本轮代码的实现边界">
            <a:extLst xmlns:a="http://schemas.openxmlformats.org/drawingml/2006/main">
              <a:ext uri="{FF2B5EF4-FFF2-40B4-BE49-F238E27FC236}">
                <a16:creationId xmlns:a16="http://schemas.microsoft.com/office/drawing/2014/main" id="{4F893A46-5155-41EA-A057-6D2A8CEA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本轮代码的实现边界</a:t>
            </a:r>
          </a:p>
        </p:txBody>
      </p:sp>
      <p:sp>
        <p:nvSpPr>
          <p:cNvPr id="2" name="offline scaffold 提供可执行契约，真实系统接入保留明确">
            <a:extLst xmlns:a="http://schemas.openxmlformats.org/drawingml/2006/main">
              <a:ext uri="{FF2B5EF4-FFF2-40B4-BE49-F238E27FC236}">
                <a16:creationId xmlns:a16="http://schemas.microsoft.com/office/drawing/2014/main" id="{7AA834D2-4C7C-49EA-886D-6CA022F5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398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offline scaffold 提供可执行契约，真实系统接入保留明确边界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42546-4DB5-4BC8-8296-EA4353F8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4020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4" name="AgentInfer RSI  /  离线脚手架与目标架构  /  2">
            <a:extLst xmlns:a="http://schemas.openxmlformats.org/drawingml/2006/main">
              <a:ext uri="{FF2B5EF4-FFF2-40B4-BE49-F238E27FC236}">
                <a16:creationId xmlns:a16="http://schemas.microsoft.com/office/drawing/2014/main" id="{47FB61B8-810D-43A1-B67F-68AE9020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581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AgentInfer RSI  /  离线脚手架与目标架构  /  2026-09-21</a:t>
            </a:r>
          </a:p>
        </p:txBody>
      </p:sp>
      <p:sp>
        <p:nvSpPr>
          <p:cNvPr id="5" name="15">
            <a:extLst xmlns:a="http://schemas.openxmlformats.org/drawingml/2006/main">
              <a:ext uri="{FF2B5EF4-FFF2-40B4-BE49-F238E27FC236}">
                <a16:creationId xmlns:a16="http://schemas.microsoft.com/office/drawing/2014/main" id="{F6CD88C5-0CE7-45BF-B865-8DF51D6C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295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本轮已提供">
            <a:extLst xmlns:a="http://schemas.openxmlformats.org/drawingml/2006/main">
              <a:ext uri="{FF2B5EF4-FFF2-40B4-BE49-F238E27FC236}">
                <a16:creationId xmlns:a16="http://schemas.microsoft.com/office/drawing/2014/main" id="{8BF9BD76-B5DC-4B8A-94DF-C63D167B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本轮已提供</a:t>
            </a:r>
          </a:p>
        </p:txBody>
      </p:sp>
      <p:sp>
        <p:nvSpPr>
          <p:cNvPr id="7" name="Python CLI 与持久化演示 Controller&#10;显式反馈评估">
            <a:extLst xmlns:a="http://schemas.openxmlformats.org/drawingml/2006/main">
              <a:ext uri="{FF2B5EF4-FFF2-40B4-BE49-F238E27FC236}">
                <a16:creationId xmlns:a16="http://schemas.microsoft.com/office/drawing/2014/main" id="{90A505C9-06CD-43B1-975D-1A4B77C5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647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Python CLI 与持久化演示 Controller</a:t>
            </a:r>
          </a:p>
          <a:p xmlns:a="http://schemas.openxmlformats.org/drawingml/2006/main">
            <a:pPr algn="l">
              <a:def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显式反馈评估与分层知识记录</a:t>
            </a:r>
          </a:p>
          <a:p xmlns:a="http://schemas.openxmlformats.org/drawingml/2006/main">
            <a:pPr algn="l">
              <a:def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本地 Dashboard 和文档资产</a:t>
            </a:r>
          </a:p>
        </p:txBody>
      </p:sp>
      <p:sp>
        <p:nvSpPr>
          <p:cNvPr id="8" name="后续接入">
            <a:extLst xmlns:a="http://schemas.openxmlformats.org/drawingml/2006/main">
              <a:ext uri="{FF2B5EF4-FFF2-40B4-BE49-F238E27FC236}">
                <a16:creationId xmlns:a16="http://schemas.microsoft.com/office/drawing/2014/main" id="{BECA42B2-9BED-4CB6-8C65-6362C678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33600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后续接入</a:t>
            </a:r>
          </a:p>
        </p:txBody>
      </p:sp>
      <p:sp>
        <p:nvSpPr>
          <p:cNvPr id="9" name="真实 ZCode / openJiuwen runtime&#10;Agent">
            <a:extLst xmlns:a="http://schemas.openxmlformats.org/drawingml/2006/main">
              <a:ext uri="{FF2B5EF4-FFF2-40B4-BE49-F238E27FC236}">
                <a16:creationId xmlns:a16="http://schemas.microsoft.com/office/drawing/2014/main" id="{85D3C579-083C-4D0F-8528-97ABBA5F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8605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真实 ZCode / openJiuwen runtime</a:t>
            </a:r>
          </a:p>
          <a:p xmlns:a="http://schemas.openxmlformats.org/drawingml/2006/main">
            <a:pPr algn="l">
              <a:def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AgentBench 与 profiler adapter</a:t>
            </a:r>
          </a:p>
          <a:p xmlns:a="http://schemas.openxmlformats.org/drawingml/2006/main">
            <a:pPr algn="l">
              <a:def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设备租约、部署、观察与恢复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96A56-5F99-4C0C-8050-276C6C31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13658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11" name="Controller 持有状态机。Harness 与 integrat">
            <a:extLst xmlns:a="http://schemas.openxmlformats.org/drawingml/2006/main">
              <a:ext uri="{FF2B5EF4-FFF2-40B4-BE49-F238E27FC236}">
                <a16:creationId xmlns:a16="http://schemas.microsoft.com/office/drawing/2014/main" id="{2052498F-86DA-42AA-8C57-209688F2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0"/>
            <a:ext cx="1362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Controller 持有状态机。Harness 与 integrations 报告事实。</a:t>
            </a:r>
          </a:p>
          <a:p xmlns:a="http://schemas.openxmlformats.org/drawingml/2006/main">
            <a:pPr algn="l">
              <a:defRPr sz="232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AgentBench 保留既有 runtime、replay 与评测能力。</a:t>
            </a:r>
          </a:p>
        </p:txBody>
      </p:sp>
      <p:sp>
        <p:nvSpPr>
          <p:cNvPr id="12" name="CUDA 和 vLLM-Ascend 均未进行环境验证，性能收益尚无真">
            <a:extLst xmlns:a="http://schemas.openxmlformats.org/drawingml/2006/main">
              <a:ext uri="{FF2B5EF4-FFF2-40B4-BE49-F238E27FC236}">
                <a16:creationId xmlns:a16="http://schemas.microsoft.com/office/drawing/2014/main" id="{CFD07954-E9AD-4924-8956-354B973C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48525"/>
            <a:ext cx="1352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46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46525"/>
                </a:solidFill>
                <a:latin typeface="Microsoft YaHei"/>
                <a:ea typeface="Microsoft YaHei"/>
                <a:cs typeface="Microsoft YaHei"/>
              </a:rPr>
              <a:t>CUDA 和 vLLM-Ascend 均未进行环境验证，性能收益尚无真实测量。</a:t>
            </a:r>
          </a:p>
        </p:txBody>
      </p:sp>
    </p:spTree>
    <p:extLst>
      <p:ext uri="{BB962C8B-B14F-4D97-AF65-F5344CB8AC3E}">
        <p14:creationId xmlns:p14="http://schemas.microsoft.com/office/powerpoint/2010/main" val="9208628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接入路线与验收条件">
            <a:extLst xmlns:a="http://schemas.openxmlformats.org/drawingml/2006/main">
              <a:ext uri="{FF2B5EF4-FFF2-40B4-BE49-F238E27FC236}">
                <a16:creationId xmlns:a16="http://schemas.microsoft.com/office/drawing/2014/main" id="{08E49F16-FC95-49A1-B6AD-F2E4F04C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接入路线与验收条件</a:t>
            </a:r>
          </a:p>
        </p:txBody>
      </p:sp>
      <p:sp>
        <p:nvSpPr>
          <p:cNvPr id="2" name="每次只增加一个可验证边界">
            <a:extLst xmlns:a="http://schemas.openxmlformats.org/drawingml/2006/main">
              <a:ext uri="{FF2B5EF4-FFF2-40B4-BE49-F238E27FC236}">
                <a16:creationId xmlns:a16="http://schemas.microsoft.com/office/drawing/2014/main" id="{767823B0-0ABE-4F76-A076-E00A1539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398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每次只增加一个可验证边界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B4A76-1E30-4605-B892-79E9E7DE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4020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4" name="AgentInfer RSI  /  离线脚手架与目标架构  /  2">
            <a:extLst xmlns:a="http://schemas.openxmlformats.org/drawingml/2006/main">
              <a:ext uri="{FF2B5EF4-FFF2-40B4-BE49-F238E27FC236}">
                <a16:creationId xmlns:a16="http://schemas.microsoft.com/office/drawing/2014/main" id="{28191A3F-5DB1-4E9D-A871-942AB1CA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581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AgentInfer RSI  /  离线脚手架与目标架构  /  2026-09-21</a:t>
            </a:r>
          </a:p>
        </p:txBody>
      </p:sp>
      <p:sp>
        <p:nvSpPr>
          <p:cNvPr id="5" name="16">
            <a:extLst xmlns:a="http://schemas.openxmlformats.org/drawingml/2006/main">
              <a:ext uri="{FF2B5EF4-FFF2-40B4-BE49-F238E27FC236}">
                <a16:creationId xmlns:a16="http://schemas.microsoft.com/office/drawing/2014/main" id="{6E56D953-F624-4A5A-A4FE-D3B57BD4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295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1">
            <a:extLst xmlns:a="http://schemas.openxmlformats.org/drawingml/2006/main">
              <a:ext uri="{FF2B5EF4-FFF2-40B4-BE49-F238E27FC236}">
                <a16:creationId xmlns:a16="http://schemas.microsoft.com/office/drawing/2014/main" id="{364AA976-27A4-493C-B427-2E5B5DFC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8597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Agent 接入">
            <a:extLst xmlns:a="http://schemas.openxmlformats.org/drawingml/2006/main">
              <a:ext uri="{FF2B5EF4-FFF2-40B4-BE49-F238E27FC236}">
                <a16:creationId xmlns:a16="http://schemas.microsoft.com/office/drawing/2014/main" id="{D42BF14D-2AC6-4FB1-A80B-FE8E9A67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85975"/>
            <a:ext cx="3000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Agent 接入</a:t>
            </a:r>
          </a:p>
        </p:txBody>
      </p:sp>
      <p:sp>
        <p:nvSpPr>
          <p:cNvPr id="8" name="真实 session、tool call、取消与恢复">
            <a:extLst xmlns:a="http://schemas.openxmlformats.org/drawingml/2006/main">
              <a:ext uri="{FF2B5EF4-FFF2-40B4-BE49-F238E27FC236}">
                <a16:creationId xmlns:a16="http://schemas.microsoft.com/office/drawing/2014/main" id="{49AA62D0-1504-44AF-A86D-FE396A5D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85975"/>
            <a:ext cx="9086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真实 session、tool call、取消与恢复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96F55-BDDC-4323-808D-6CD03213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13620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10" name="2">
            <a:extLst xmlns:a="http://schemas.openxmlformats.org/drawingml/2006/main">
              <a:ext uri="{FF2B5EF4-FFF2-40B4-BE49-F238E27FC236}">
                <a16:creationId xmlns:a16="http://schemas.microsoft.com/office/drawing/2014/main" id="{4F95E1E6-A6B9-40F8-ACCC-AEE177C8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实验接入">
            <a:extLst xmlns:a="http://schemas.openxmlformats.org/drawingml/2006/main">
              <a:ext uri="{FF2B5EF4-FFF2-40B4-BE49-F238E27FC236}">
                <a16:creationId xmlns:a16="http://schemas.microsoft.com/office/drawing/2014/main" id="{8FA2A867-061D-4CBD-8ACA-45CEF84C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19475"/>
            <a:ext cx="3000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实验接入</a:t>
            </a:r>
          </a:p>
        </p:txBody>
      </p:sp>
      <p:sp>
        <p:nvSpPr>
          <p:cNvPr id="12" name="固定负载，replay 与真实任务分别验收">
            <a:extLst xmlns:a="http://schemas.openxmlformats.org/drawingml/2006/main">
              <a:ext uri="{FF2B5EF4-FFF2-40B4-BE49-F238E27FC236}">
                <a16:creationId xmlns:a16="http://schemas.microsoft.com/office/drawing/2014/main" id="{F4EE9180-9A27-40F2-A121-452EB5AA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19475"/>
            <a:ext cx="9086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固定负载，replay 与真实任务分别验收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39452D-7CF4-4189-B45D-CD8E20CD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13620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14" name="3">
            <a:extLst xmlns:a="http://schemas.openxmlformats.org/drawingml/2006/main">
              <a:ext uri="{FF2B5EF4-FFF2-40B4-BE49-F238E27FC236}">
                <a16:creationId xmlns:a16="http://schemas.microsoft.com/office/drawing/2014/main" id="{FAA78B35-BC67-4E78-A9DD-ADC0CCD4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5297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局部探针">
            <a:extLst xmlns:a="http://schemas.openxmlformats.org/drawingml/2006/main">
              <a:ext uri="{FF2B5EF4-FFF2-40B4-BE49-F238E27FC236}">
                <a16:creationId xmlns:a16="http://schemas.microsoft.com/office/drawing/2014/main" id="{D0F80DE0-E22C-4421-9EAA-1B5CADD8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52975"/>
            <a:ext cx="3000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局部探针</a:t>
            </a:r>
          </a:p>
        </p:txBody>
      </p:sp>
      <p:sp>
        <p:nvSpPr>
          <p:cNvPr id="16" name="参考 / 差分 / 干预与 profile 可回溯">
            <a:extLst xmlns:a="http://schemas.openxmlformats.org/drawingml/2006/main">
              <a:ext uri="{FF2B5EF4-FFF2-40B4-BE49-F238E27FC236}">
                <a16:creationId xmlns:a16="http://schemas.microsoft.com/office/drawing/2014/main" id="{97B6FB66-5A0C-45DC-8CE4-2C22B07A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52975"/>
            <a:ext cx="9086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参考 / 差分 / 干预与 profile 可回溯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9B2DEE-E43C-4BCF-A9CB-7BC0766E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29300"/>
            <a:ext cx="13620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C8"/>
          </a:solidFill>
          <a:ln xmlns:a="http://schemas.openxmlformats.org/drawingml/2006/main" w="0">
            <a:noFill/>
          </a:ln>
        </p:spPr>
      </p:sp>
      <p:sp>
        <p:nvSpPr>
          <p:cNvPr id="18" name="4">
            <a:extLst xmlns:a="http://schemas.openxmlformats.org/drawingml/2006/main">
              <a:ext uri="{FF2B5EF4-FFF2-40B4-BE49-F238E27FC236}">
                <a16:creationId xmlns:a16="http://schemas.microsoft.com/office/drawing/2014/main" id="{2E310779-A51B-4BAF-8C74-D2990F06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8647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34715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受控发布">
            <a:extLst xmlns:a="http://schemas.openxmlformats.org/drawingml/2006/main">
              <a:ext uri="{FF2B5EF4-FFF2-40B4-BE49-F238E27FC236}">
                <a16:creationId xmlns:a16="http://schemas.microsoft.com/office/drawing/2014/main" id="{92410ADC-A77C-4D89-B0DA-971DA4F0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086475"/>
            <a:ext cx="3000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03128"/>
                </a:solidFill>
                <a:latin typeface="Microsoft YaHei"/>
                <a:ea typeface="Microsoft YaHei"/>
                <a:cs typeface="Microsoft YaHei"/>
              </a:rPr>
              <a:t>受控发布</a:t>
            </a:r>
          </a:p>
        </p:txBody>
      </p:sp>
      <p:sp>
        <p:nvSpPr>
          <p:cNvPr id="20" name="后端矩阵、健康观察、失败对账与恢复">
            <a:extLst xmlns:a="http://schemas.openxmlformats.org/drawingml/2006/main">
              <a:ext uri="{FF2B5EF4-FFF2-40B4-BE49-F238E27FC236}">
                <a16:creationId xmlns:a16="http://schemas.microsoft.com/office/drawing/2014/main" id="{39A9881E-55F7-4D40-8353-EB5F8D7C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086475"/>
            <a:ext cx="9086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776A"/>
                </a:solidFill>
                <a:latin typeface="Microsoft YaHei"/>
                <a:ea typeface="Microsoft YaHei"/>
                <a:cs typeface="Microsoft YaHei"/>
              </a:rPr>
              <a:t>后端矩阵、健康观察、失败对账与恢复</a:t>
            </a:r>
          </a:p>
        </p:txBody>
      </p:sp>
    </p:spTree>
    <p:extLst>
      <p:ext uri="{BB962C8B-B14F-4D97-AF65-F5344CB8AC3E}">
        <p14:creationId xmlns:p14="http://schemas.microsoft.com/office/powerpoint/2010/main" val="19977696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2026-09-21T13:20:16.4320000Z</dcterms:created>
  <dcterms:modified xsi:type="dcterms:W3CDTF">2026-09-21T13:20:16.4320000Z</dcterms:modified>
</coreProperties>
</file>